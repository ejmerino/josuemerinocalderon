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302" r:id="rId4"/>
    <p:sldId id="258" r:id="rId5"/>
    <p:sldId id="306" r:id="rId6"/>
    <p:sldId id="263" r:id="rId7"/>
    <p:sldId id="264" r:id="rId8"/>
    <p:sldId id="265" r:id="rId9"/>
    <p:sldId id="305" r:id="rId10"/>
    <p:sldId id="260" r:id="rId11"/>
    <p:sldId id="304" r:id="rId12"/>
    <p:sldId id="315" r:id="rId13"/>
    <p:sldId id="309" r:id="rId14"/>
    <p:sldId id="316" r:id="rId15"/>
    <p:sldId id="291" r:id="rId16"/>
    <p:sldId id="303" r:id="rId17"/>
    <p:sldId id="311" r:id="rId18"/>
    <p:sldId id="293" r:id="rId19"/>
    <p:sldId id="289" r:id="rId20"/>
    <p:sldId id="307" r:id="rId21"/>
    <p:sldId id="319" r:id="rId22"/>
    <p:sldId id="294" r:id="rId23"/>
    <p:sldId id="312" r:id="rId24"/>
    <p:sldId id="301" r:id="rId25"/>
    <p:sldId id="287" r:id="rId26"/>
    <p:sldId id="313" r:id="rId27"/>
    <p:sldId id="310" r:id="rId28"/>
    <p:sldId id="300" r:id="rId29"/>
    <p:sldId id="298" r:id="rId30"/>
    <p:sldId id="317" r:id="rId31"/>
    <p:sldId id="318" r:id="rId32"/>
    <p:sldId id="299" r:id="rId33"/>
    <p:sldId id="297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ndy Quintana" initials="WQ" lastIdx="1" clrIdx="0">
    <p:extLst>
      <p:ext uri="{19B8F6BF-5375-455C-9EA6-DF929625EA0E}">
        <p15:presenceInfo xmlns:p15="http://schemas.microsoft.com/office/powerpoint/2012/main" userId="c4a3e8f163c9f90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790C4C8-F25B-4120-9F63-A5447E8A6EF8}">
  <a:tblStyle styleId="{C790C4C8-F25B-4120-9F63-A5447E8A6E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86028" autoAdjust="0"/>
  </p:normalViewPr>
  <p:slideViewPr>
    <p:cSldViewPr snapToGrid="0">
      <p:cViewPr>
        <p:scale>
          <a:sx n="111" d="100"/>
          <a:sy n="111" d="100"/>
        </p:scale>
        <p:origin x="-638" y="-8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C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53568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 smtClean="0"/>
              <a:t>Jos</a:t>
            </a:r>
            <a:endParaRPr lang="en-US" b="1" dirty="0"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6187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dirty="0" err="1" smtClean="0"/>
              <a:t>Jos</a:t>
            </a:r>
            <a:r>
              <a:rPr lang="es-MX" dirty="0" smtClean="0"/>
              <a:t/>
            </a:r>
            <a:br>
              <a:rPr lang="es-MX" dirty="0" smtClean="0"/>
            </a:br>
            <a:r>
              <a:rPr lang="es-MX" dirty="0" smtClean="0"/>
              <a:t>Para </a:t>
            </a:r>
            <a:r>
              <a:rPr lang="es-MX" dirty="0"/>
              <a:t>la </a:t>
            </a:r>
            <a:r>
              <a:rPr lang="es-MX" dirty="0" smtClean="0"/>
              <a:t>presentación</a:t>
            </a:r>
            <a:r>
              <a:rPr lang="es-MX" dirty="0"/>
              <a:t>, </a:t>
            </a:r>
            <a:r>
              <a:rPr lang="es-MX" dirty="0" smtClean="0"/>
              <a:t>abordaremos</a:t>
            </a:r>
            <a:r>
              <a:rPr lang="es-MX" baseline="0" dirty="0" smtClean="0"/>
              <a:t> 8</a:t>
            </a:r>
            <a:r>
              <a:rPr lang="es-MX" dirty="0" smtClean="0"/>
              <a:t> puntos</a:t>
            </a:r>
            <a:endParaRPr lang="es-MX" dirty="0"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53615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C" b="1" dirty="0" err="1" smtClean="0"/>
              <a:t>Jos</a:t>
            </a:r>
            <a:endParaRPr lang="es-EC" b="1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7178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s-MX" sz="5400" dirty="0" err="1" smtClean="0"/>
              <a:t>Jos</a:t>
            </a:r>
            <a:endParaRPr lang="es-MX" sz="5400" dirty="0"/>
          </a:p>
        </p:txBody>
      </p:sp>
      <p:sp>
        <p:nvSpPr>
          <p:cNvPr id="87" name="Google Shape;8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0344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C" b="1" dirty="0" err="1" smtClean="0"/>
              <a:t>Jos</a:t>
            </a:r>
            <a:endParaRPr lang="es-EC" b="1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2523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f6914f192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8" name="Google Shape;328;g2f6914f1925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err="1" smtClean="0"/>
              <a:t>Jos</a:t>
            </a:r>
            <a:endParaRPr lang="es-EC" b="1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b="1" dirty="0"/>
          </a:p>
        </p:txBody>
      </p:sp>
      <p:sp>
        <p:nvSpPr>
          <p:cNvPr id="329" name="Google Shape;329;g2f6914f1925_0_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6619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err="1" smtClean="0"/>
              <a:t>Jos</a:t>
            </a:r>
            <a:endParaRPr lang="es-EC" b="1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2" name="Google Shape;34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1533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24202620e8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224202620e8_2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7" name="Google Shape;357;g224202620e8_2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393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EC" b="1" dirty="0" smtClean="0"/>
              <a:t>Alejo</a:t>
            </a:r>
            <a:endParaRPr b="1" dirty="0"/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35974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f81d484e83_5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6" name="Google Shape;186;g2f81d484e83_5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dirty="0"/>
          </a:p>
        </p:txBody>
      </p:sp>
      <p:sp>
        <p:nvSpPr>
          <p:cNvPr id="187" name="Google Shape;187;g2f81d484e83_5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4613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19384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endParaRPr lang="es-MX" dirty="0"/>
          </a:p>
        </p:txBody>
      </p:sp>
      <p:sp>
        <p:nvSpPr>
          <p:cNvPr id="372" name="Google Shape;37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76620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endParaRPr lang="es-MX" dirty="0"/>
          </a:p>
        </p:txBody>
      </p:sp>
      <p:sp>
        <p:nvSpPr>
          <p:cNvPr id="372" name="Google Shape;37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252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endParaRPr lang="es-MX" dirty="0"/>
          </a:p>
        </p:txBody>
      </p:sp>
      <p:sp>
        <p:nvSpPr>
          <p:cNvPr id="372" name="Google Shape;37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5698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endParaRPr lang="es-MX" dirty="0"/>
          </a:p>
        </p:txBody>
      </p:sp>
      <p:sp>
        <p:nvSpPr>
          <p:cNvPr id="372" name="Google Shape;37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26537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C" b="1" dirty="0" err="1" smtClean="0"/>
              <a:t>Jos</a:t>
            </a:r>
            <a:endParaRPr lang="es-EC" b="1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77223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err="1" smtClean="0"/>
              <a:t>Jos</a:t>
            </a:r>
            <a:endParaRPr lang="es-EC" b="1" dirty="0" smtClean="0"/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b="0" dirty="0" smtClean="0"/>
              <a:t>El aseguramiento de la calidad del software dentro de la Ciencia de Diseño exige someter al artefacto a un proceso riguroso de verificación y validación para garantizar que las funciones</a:t>
            </a:r>
            <a:r>
              <a:rPr lang="es-MX" b="0" baseline="0" dirty="0" smtClean="0"/>
              <a:t> </a:t>
            </a:r>
            <a:r>
              <a:rPr lang="es-MX" b="0" dirty="0" smtClean="0"/>
              <a:t>lógicas respondan con exactitud a los requerimientos especificados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b="1" dirty="0" smtClean="0"/>
              <a:t>Pruebas de Integración: </a:t>
            </a:r>
            <a:r>
              <a:rPr lang="es-MX" b="0" dirty="0" smtClean="0"/>
              <a:t>Validar el acoplamiento síncrono entre las peticiones de </a:t>
            </a:r>
            <a:r>
              <a:rPr lang="es-MX" b="0" dirty="0" err="1" smtClean="0"/>
              <a:t>Flutter</a:t>
            </a:r>
            <a:r>
              <a:rPr lang="es-MX" b="0" dirty="0" smtClean="0"/>
              <a:t> y los </a:t>
            </a:r>
            <a:r>
              <a:rPr lang="es-MX" b="0" dirty="0" err="1" smtClean="0"/>
              <a:t>endpoints</a:t>
            </a:r>
            <a:r>
              <a:rPr lang="es-MX" b="0" dirty="0" smtClean="0"/>
              <a:t> de </a:t>
            </a:r>
            <a:r>
              <a:rPr lang="es-MX" b="0" dirty="0" err="1" smtClean="0"/>
              <a:t>CloudFirestore</a:t>
            </a:r>
            <a:r>
              <a:rPr lang="es-MX" b="0" dirty="0" smtClean="0"/>
              <a:t>.</a:t>
            </a: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MX" b="1" dirty="0" smtClean="0"/>
              <a:t>Pruebas de Validación:.</a:t>
            </a:r>
            <a:r>
              <a:rPr lang="es-MX" b="0" dirty="0" smtClean="0"/>
              <a:t> Forzar la activación de las restricciones lógicas operacionales ante datos nulos o inconsistentes</a:t>
            </a:r>
            <a:endParaRPr lang="es-EC" b="0" dirty="0" smtClean="0"/>
          </a:p>
          <a:p>
            <a:endParaRPr lang="es-MX" dirty="0"/>
          </a:p>
        </p:txBody>
      </p:sp>
      <p:sp>
        <p:nvSpPr>
          <p:cNvPr id="289" name="Google Shape;28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38536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err="1" smtClean="0"/>
              <a:t>Jos</a:t>
            </a:r>
            <a:endParaRPr lang="es-EC" b="1" dirty="0" smtClean="0"/>
          </a:p>
          <a:p>
            <a:r>
              <a:rPr lang="es-MX" dirty="0" smtClean="0"/>
              <a:t>Dentro del código se hizo la </a:t>
            </a:r>
          </a:p>
          <a:p>
            <a:r>
              <a:rPr lang="es-MX" dirty="0" smtClean="0"/>
              <a:t>En la Terminal del sistema de </a:t>
            </a:r>
            <a:r>
              <a:rPr lang="es-MX" b="1" dirty="0" err="1" smtClean="0"/>
              <a:t>Flutter</a:t>
            </a:r>
            <a:r>
              <a:rPr lang="es-MX" b="1" dirty="0" smtClean="0"/>
              <a:t> </a:t>
            </a:r>
            <a:endParaRPr lang="es-MX" b="1" dirty="0"/>
          </a:p>
        </p:txBody>
      </p:sp>
      <p:sp>
        <p:nvSpPr>
          <p:cNvPr id="289" name="Google Shape;28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32467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50797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C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s-EC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66642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  <a:p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C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s-EC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89429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sz="800" b="1" dirty="0" smtClean="0"/>
              <a:t>Alejo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400" dirty="0"/>
          </a:p>
        </p:txBody>
      </p:sp>
      <p:sp>
        <p:nvSpPr>
          <p:cNvPr id="289" name="Google Shape;28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789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sz="800" b="1" dirty="0" smtClean="0"/>
              <a:t>Alejo</a:t>
            </a:r>
            <a:r>
              <a:rPr lang="es-EC" sz="400" dirty="0" smtClean="0"/>
              <a:t/>
            </a:r>
            <a:br>
              <a:rPr lang="es-EC" sz="400" dirty="0" smtClean="0"/>
            </a:br>
            <a:r>
              <a:rPr lang="es-EC" sz="400" dirty="0" err="1" smtClean="0"/>
              <a:t>System</a:t>
            </a:r>
            <a:r>
              <a:rPr lang="es-EC" sz="400" dirty="0" smtClean="0"/>
              <a:t> </a:t>
            </a:r>
            <a:r>
              <a:rPr lang="es-EC" sz="400" dirty="0" err="1" smtClean="0"/>
              <a:t>Usability</a:t>
            </a:r>
            <a:r>
              <a:rPr lang="es-EC" sz="400" dirty="0" smtClean="0"/>
              <a:t> </a:t>
            </a:r>
            <a:r>
              <a:rPr lang="es-EC" sz="400" dirty="0" err="1" smtClean="0"/>
              <a:t>Scale</a:t>
            </a:r>
            <a:r>
              <a:rPr lang="es-EC" sz="400" dirty="0" smtClean="0"/>
              <a:t> – SUS basado en </a:t>
            </a:r>
            <a:r>
              <a:rPr lang="es-EC" sz="400" dirty="0" err="1" smtClean="0"/>
              <a:t>Brooke</a:t>
            </a:r>
            <a:endParaRPr lang="es-EC" sz="400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EC" sz="400" dirty="0" smtClean="0"/>
              <a:t>Basado</a:t>
            </a:r>
            <a:r>
              <a:rPr lang="es-EC" sz="400" baseline="0" dirty="0" smtClean="0"/>
              <a:t> en Davis</a:t>
            </a:r>
            <a:endParaRPr sz="400" dirty="0"/>
          </a:p>
        </p:txBody>
      </p:sp>
      <p:sp>
        <p:nvSpPr>
          <p:cNvPr id="289" name="Google Shape;28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33541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C" b="1" dirty="0" smtClean="0"/>
              <a:t>Alejo</a:t>
            </a:r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238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f81d484e8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g2f81d484e83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sz="1800" b="1" dirty="0" smtClean="0"/>
              <a:t>Alejo</a:t>
            </a:r>
          </a:p>
          <a:p>
            <a:pPr indent="457200">
              <a:lnSpc>
                <a:spcPct val="200000"/>
              </a:lnSpc>
            </a:pPr>
            <a:endParaRPr lang="es-EC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4" name="Google Shape;824;g2f81d484e83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61137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f81d484e8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g2f81d484e83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sz="1800" b="1" dirty="0" err="1" smtClean="0"/>
              <a:t>Jos</a:t>
            </a:r>
            <a:endParaRPr lang="es-EC" sz="1800" b="1" dirty="0" smtClean="0"/>
          </a:p>
          <a:p>
            <a:pPr indent="457200">
              <a:lnSpc>
                <a:spcPct val="200000"/>
              </a:lnSpc>
            </a:pPr>
            <a:r>
              <a:rPr lang="es-MX" sz="18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 </a:t>
            </a:r>
            <a:r>
              <a:rPr lang="es-MX" sz="18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análisis</a:t>
            </a:r>
            <a:r>
              <a:rPr lang="es-MX" sz="18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integrado de los resultados cuantitativos (escalas SUS y TAM) y las opiniones cualitativas recopiladas permiten evaluar el nivel de cumplimiento de los objetivos </a:t>
            </a:r>
            <a:r>
              <a:rPr lang="es-MX" sz="180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planeteado</a:t>
            </a:r>
            <a:endParaRPr lang="es-EC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4" name="Google Shape;824;g2f81d484e83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824059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f81d484e8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g2f81d484e83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sz="1800" b="1" dirty="0" err="1" smtClean="0"/>
              <a:t>Jos</a:t>
            </a:r>
            <a:endParaRPr lang="es-EC" sz="1800" b="1" dirty="0" smtClean="0"/>
          </a:p>
          <a:p>
            <a:pPr indent="457200">
              <a:lnSpc>
                <a:spcPct val="200000"/>
              </a:lnSpc>
            </a:pPr>
            <a:endParaRPr lang="es-EC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4" name="Google Shape;824;g2f81d484e83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99000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C" b="1" dirty="0" err="1" smtClean="0"/>
              <a:t>Jos</a:t>
            </a:r>
            <a:endParaRPr lang="es-EC" b="1" dirty="0" smtClean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4054365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f81d484e8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g2f81d484e83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sz="1800" b="1" dirty="0" err="1" smtClean="0"/>
              <a:t>Jos</a:t>
            </a:r>
            <a:endParaRPr lang="es-EC" sz="1800" b="1" dirty="0" smtClean="0"/>
          </a:p>
          <a:p>
            <a:pPr indent="457200">
              <a:lnSpc>
                <a:spcPct val="200000"/>
              </a:lnSpc>
            </a:pPr>
            <a:endParaRPr lang="es-EC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4" name="Google Shape;824;g2f81d484e83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20578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f81d484e8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g2f81d484e83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sz="1800" b="1" dirty="0" err="1" smtClean="0"/>
              <a:t>Jos</a:t>
            </a:r>
            <a:endParaRPr lang="es-EC" sz="1800" b="1" dirty="0" smtClean="0"/>
          </a:p>
          <a:p>
            <a:pPr indent="457200">
              <a:lnSpc>
                <a:spcPct val="200000"/>
              </a:lnSpc>
            </a:pPr>
            <a:endParaRPr lang="es-EC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4" name="Google Shape;824;g2f81d484e83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9230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f81d484e83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3" name="Google Shape;823;g2f81d484e83_0_7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4572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s-EC" sz="1800" b="1" dirty="0" err="1" smtClean="0"/>
              <a:t>Jos</a:t>
            </a:r>
            <a:r>
              <a:rPr lang="es-EC" sz="18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es-EC" sz="18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s-EC" sz="1800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iOS = .</a:t>
            </a:r>
            <a:r>
              <a:rPr lang="es-EC" sz="1800" dirty="0" err="1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ipa</a:t>
            </a:r>
            <a:endParaRPr lang="es-EC" sz="1800" dirty="0" smtClean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7200">
              <a:lnSpc>
                <a:spcPct val="200000"/>
              </a:lnSpc>
            </a:pPr>
            <a:endParaRPr lang="es-EC" sz="1800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24" name="Google Shape;824;g2f81d484e83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45727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0" name="Google Shape;870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dirty="0"/>
          </a:p>
        </p:txBody>
      </p:sp>
      <p:sp>
        <p:nvSpPr>
          <p:cNvPr id="871" name="Google Shape;871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C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82177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b="1" dirty="0"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087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81076"/>
            <a:ext cx="12192003" cy="56165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/>
          <p:nvPr/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609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4165600" y="6245225"/>
            <a:ext cx="38607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2" descr="bannner 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722937"/>
            <a:ext cx="12192001" cy="1135062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"/>
          <p:cNvSpPr/>
          <p:nvPr/>
        </p:nvSpPr>
        <p:spPr>
          <a:xfrm>
            <a:off x="289984" y="260351"/>
            <a:ext cx="1056300" cy="792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2" descr="LOGO ESPE ORIGINAL cop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935" y="115888"/>
            <a:ext cx="4417484" cy="8874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–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–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5730145" y="63085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53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  <a:defRPr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  <a:defRPr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  <a:defRPr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  <a:defRPr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  <a:defRPr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  <a:defRPr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5730145" y="633300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algn="ctr">
              <a:buNone/>
              <a:defRPr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4635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Times New Roman"/>
              <a:buChar char="•"/>
              <a:defRPr sz="3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–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•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4635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Times New Roman"/>
              <a:buChar char="•"/>
              <a:defRPr sz="3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–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•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–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»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  <a:defRPr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–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–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200" cy="6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  <a:defRPr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None/>
              <a:defRPr sz="27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None/>
              <a:defRPr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None/>
              <a:defRPr sz="21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2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–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–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Times New Roman"/>
              <a:buChar char="»"/>
              <a:defRPr sz="21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buNone/>
              <a:defRPr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609601" y="273049"/>
            <a:ext cx="40113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7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700" cy="58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5016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Times New Roman"/>
              <a:buChar char="•"/>
              <a:defRPr sz="4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635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Times New Roman"/>
              <a:buChar char="–"/>
              <a:defRPr sz="3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–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»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»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»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»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40005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Times New Roman"/>
              <a:buChar char="»"/>
              <a:defRPr sz="27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3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  <a:defRPr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None/>
              <a:def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27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" name="Google Shape;58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0"/>
          <p:cNvSpPr txBox="1">
            <a:spLocks noGrp="1"/>
          </p:cNvSpPr>
          <p:nvPr>
            <p:ph type="body" idx="1"/>
          </p:nvPr>
        </p:nvSpPr>
        <p:spPr>
          <a:xfrm>
            <a:off x="2389717" y="5367337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Times New Roman"/>
              <a:buNone/>
              <a:defRPr sz="19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  <a:defRPr sz="16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None/>
              <a:defRPr sz="13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09600" y="274639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 rot="5400000">
            <a:off x="3832950" y="-1623149"/>
            <a:ext cx="45261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–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–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 rot="5400000">
            <a:off x="7285050" y="1828789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4300" b="1" i="1" u="none" strike="noStrike" cap="none">
                <a:solidFill>
                  <a:srgbClr val="FFFFC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61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–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•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–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Char char="»"/>
              <a:defRPr sz="3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>
              <a:buNone/>
              <a:def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12192000" cy="6207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EB786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 rot="10800000">
            <a:off x="-15" y="6308700"/>
            <a:ext cx="10513500" cy="5493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9EB786"/>
              </a:gs>
            </a:gsLst>
            <a:lin ang="0" scaled="0"/>
          </a:gra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" name="Google Shape;12;p1"/>
          <p:cNvCxnSpPr/>
          <p:nvPr/>
        </p:nvCxnSpPr>
        <p:spPr>
          <a:xfrm>
            <a:off x="33868" y="6296025"/>
            <a:ext cx="88797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" name="Google Shape;13;p1"/>
          <p:cNvCxnSpPr/>
          <p:nvPr/>
        </p:nvCxnSpPr>
        <p:spPr>
          <a:xfrm>
            <a:off x="33868" y="6245225"/>
            <a:ext cx="8879700" cy="0"/>
          </a:xfrm>
          <a:prstGeom prst="straightConnector1">
            <a:avLst/>
          </a:prstGeom>
          <a:noFill/>
          <a:ln w="38100" cap="flat" cmpd="sng">
            <a:solidFill>
              <a:srgbClr val="0066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" name="Google Shape;14;p1" descr="LOGO ESPE ORIGINAL copia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976784" y="5949951"/>
            <a:ext cx="3073400" cy="636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6.jp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11" Type="http://schemas.openxmlformats.org/officeDocument/2006/relationships/image" Target="../media/image17.png"/><Relationship Id="rId5" Type="http://schemas.openxmlformats.org/officeDocument/2006/relationships/image" Target="../media/image11.jpe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6.jp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19" Type="http://schemas.openxmlformats.org/officeDocument/2006/relationships/image" Target="../media/image8.png"/><Relationship Id="rId4" Type="http://schemas.openxmlformats.org/officeDocument/2006/relationships/image" Target="../media/image6.jp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1.png"/><Relationship Id="rId4" Type="http://schemas.openxmlformats.org/officeDocument/2006/relationships/image" Target="../media/image6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6.jpg"/><Relationship Id="rId9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6.jpg"/><Relationship Id="rId9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0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6.jpg"/><Relationship Id="rId9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8.png"/><Relationship Id="rId5" Type="http://schemas.openxmlformats.org/officeDocument/2006/relationships/image" Target="../media/image54.png"/><Relationship Id="rId10" Type="http://schemas.openxmlformats.org/officeDocument/2006/relationships/image" Target="../media/image57.png"/><Relationship Id="rId4" Type="http://schemas.openxmlformats.org/officeDocument/2006/relationships/image" Target="../media/image6.jpg"/><Relationship Id="rId9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8.jpe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10" Type="http://schemas.openxmlformats.org/officeDocument/2006/relationships/image" Target="../media/image8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8.png"/><Relationship Id="rId5" Type="http://schemas.openxmlformats.org/officeDocument/2006/relationships/image" Target="../media/image65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jpeg"/><Relationship Id="rId4" Type="http://schemas.openxmlformats.org/officeDocument/2006/relationships/image" Target="../media/image6.jpg"/><Relationship Id="rId9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10.png"/><Relationship Id="rId7" Type="http://schemas.openxmlformats.org/officeDocument/2006/relationships/image" Target="../media/image71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17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.jpg"/><Relationship Id="rId9" Type="http://schemas.openxmlformats.org/officeDocument/2006/relationships/image" Target="../media/image7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10" Type="http://schemas.openxmlformats.org/officeDocument/2006/relationships/image" Target="../media/image8.png"/><Relationship Id="rId4" Type="http://schemas.openxmlformats.org/officeDocument/2006/relationships/image" Target="../media/image75.png"/><Relationship Id="rId9" Type="http://schemas.openxmlformats.org/officeDocument/2006/relationships/image" Target="../media/image6.jp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0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image" Target="../media/image8.png"/><Relationship Id="rId4" Type="http://schemas.openxmlformats.org/officeDocument/2006/relationships/image" Target="../media/image79.png"/><Relationship Id="rId9" Type="http://schemas.openxmlformats.org/officeDocument/2006/relationships/image" Target="../media/image6.jp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10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jpeg"/><Relationship Id="rId10" Type="http://schemas.openxmlformats.org/officeDocument/2006/relationships/image" Target="../media/image8.png"/><Relationship Id="rId4" Type="http://schemas.openxmlformats.org/officeDocument/2006/relationships/image" Target="../media/image83.jpeg"/><Relationship Id="rId9" Type="http://schemas.openxmlformats.org/officeDocument/2006/relationships/image" Target="../media/image6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6.jpg"/><Relationship Id="rId5" Type="http://schemas.openxmlformats.org/officeDocument/2006/relationships/image" Target="../media/image26.png"/><Relationship Id="rId10" Type="http://schemas.openxmlformats.org/officeDocument/2006/relationships/image" Target="../media/image73.png"/><Relationship Id="rId4" Type="http://schemas.openxmlformats.org/officeDocument/2006/relationships/image" Target="../media/image25.png"/><Relationship Id="rId9" Type="http://schemas.openxmlformats.org/officeDocument/2006/relationships/image" Target="../media/image8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10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8.png"/><Relationship Id="rId4" Type="http://schemas.openxmlformats.org/officeDocument/2006/relationships/image" Target="../media/image90.png"/><Relationship Id="rId9" Type="http://schemas.openxmlformats.org/officeDocument/2006/relationships/image" Target="../media/image6.jp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10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image" Target="../media/image8.png"/><Relationship Id="rId5" Type="http://schemas.openxmlformats.org/officeDocument/2006/relationships/image" Target="../media/image83.jpeg"/><Relationship Id="rId10" Type="http://schemas.openxmlformats.org/officeDocument/2006/relationships/image" Target="../media/image6.jpg"/><Relationship Id="rId4" Type="http://schemas.openxmlformats.org/officeDocument/2006/relationships/image" Target="../media/image95.png"/><Relationship Id="rId9" Type="http://schemas.openxmlformats.org/officeDocument/2006/relationships/image" Target="../media/image9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3"/>
          <p:cNvPicPr preferRelativeResize="0"/>
          <p:nvPr/>
        </p:nvPicPr>
        <p:blipFill rotWithShape="1">
          <a:blip r:embed="rId3">
            <a:alphaModFix/>
          </a:blip>
          <a:srcRect t="2657"/>
          <a:stretch/>
        </p:blipFill>
        <p:spPr>
          <a:xfrm>
            <a:off x="143339" y="0"/>
            <a:ext cx="4224470" cy="100348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1487488" y="979176"/>
            <a:ext cx="101772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C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 DE LAS FUERZAS ARMADAS – ESPE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C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C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DEPARTAMENTO DE CIENCIAS DE LA COMPUTACIÓN </a:t>
            </a: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C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Carrera de Software</a:t>
            </a:r>
            <a:endParaRPr sz="1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C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Modalidad Presencial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487488" y="2518476"/>
            <a:ext cx="10177200" cy="280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C" sz="15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Tema: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SzPts val="1900"/>
            </a:pPr>
            <a:r>
              <a:rPr lang="es-EC" sz="19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s-EC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s-EC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s-MX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 y desarrollo de un prototipo de aplicación móvil para el análisis del rendimiento individual en futbolistas </a:t>
            </a:r>
            <a:r>
              <a:rPr lang="es-MX" sz="16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amateur”</a:t>
            </a:r>
            <a:endParaRPr lang="es-MX"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Autores:</a:t>
            </a:r>
            <a:endParaRPr lang="es-EC" sz="1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500"/>
            </a:pPr>
            <a:r>
              <a:rPr lang="es-EC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ANDRADE ENCALADA LUIS </a:t>
            </a:r>
            <a:r>
              <a:rPr lang="es-EC" sz="16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ALEJANDRO</a:t>
            </a:r>
            <a:r>
              <a:rPr lang="es-EC" sz="15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s-EC" sz="15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1500"/>
            </a:pPr>
            <a:r>
              <a:rPr lang="es-EC" sz="16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MERINO </a:t>
            </a:r>
            <a:r>
              <a:rPr lang="es-EC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CALDERÓN EDNAN JOSUÉ</a:t>
            </a:r>
          </a:p>
          <a:p>
            <a:pPr lvl="0" algn="ctr">
              <a:buSzPts val="1500"/>
            </a:pP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</a:t>
            </a: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b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C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ING. CUDCO POMAGUALLI ÁNGEL </a:t>
            </a:r>
            <a:r>
              <a:rPr lang="pt-BR" sz="16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GEOVANNY MTR.</a:t>
            </a:r>
            <a:endParaRPr lang="pt-BR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pt-BR" sz="1500" b="1" i="0" u="none" strike="noStrike" cap="none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SANGOLQUÍ</a:t>
            </a:r>
            <a:r>
              <a:rPr lang="es-EC" sz="15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AGOSTO 2026</a:t>
            </a:r>
            <a:endParaRPr sz="15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title"/>
          </p:nvPr>
        </p:nvSpPr>
        <p:spPr>
          <a:xfrm>
            <a:off x="7246561" y="-293689"/>
            <a:ext cx="4802100" cy="11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>
                <a:solidFill>
                  <a:schemeClr val="dk1"/>
                </a:solidFill>
              </a:rPr>
              <a:t>Agenda</a:t>
            </a:r>
            <a:endParaRPr dirty="0"/>
          </a:p>
        </p:txBody>
      </p:sp>
      <p:pic>
        <p:nvPicPr>
          <p:cNvPr id="82" name="Google Shape;82;p14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8" name="Picture 2" descr="Icono Vectorial De Agenda, Señal Y Símbolo Aislado Sobre Fondo Blanco  Ilustración del Vector - Ilustración de priorizar, lista: 133803101">
            <a:extLst>
              <a:ext uri="{FF2B5EF4-FFF2-40B4-BE49-F238E27FC236}">
                <a16:creationId xmlns="" xmlns:a16="http://schemas.microsoft.com/office/drawing/2014/main" id="{34CB280C-7FC5-9B4F-4E87-82BAF31CC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0202" y="1009492"/>
            <a:ext cx="3738292" cy="3738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" name="Google Shape;81;p14"/>
          <p:cNvSpPr txBox="1"/>
          <p:nvPr/>
        </p:nvSpPr>
        <p:spPr>
          <a:xfrm>
            <a:off x="2432126" y="1485284"/>
            <a:ext cx="6058242" cy="3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MX" sz="2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MX"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MX" sz="2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  <a:endParaRPr lang="es-MX"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MX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Metodología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MX" sz="2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MX" sz="28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MX" sz="2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Demostración y Evaluación</a:t>
            </a:r>
            <a:endParaRPr lang="es-MX"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MX" sz="2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lang="es-MX"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</a:pPr>
            <a:r>
              <a:rPr lang="es-EC" sz="28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Google Shape;109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7" y="2756850"/>
            <a:ext cx="6173719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 smtClean="0">
                <a:solidFill>
                  <a:schemeClr val="dk1"/>
                </a:solidFill>
              </a:rPr>
              <a:t>Introducción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839643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>
            <a:spLocks noGrp="1"/>
          </p:cNvSpPr>
          <p:nvPr>
            <p:ph type="title"/>
          </p:nvPr>
        </p:nvSpPr>
        <p:spPr>
          <a:xfrm>
            <a:off x="1075861" y="-298627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Introducción</a:t>
            </a:r>
            <a:endParaRPr dirty="0"/>
          </a:p>
        </p:txBody>
      </p:sp>
      <p:sp>
        <p:nvSpPr>
          <p:cNvPr id="90" name="Google Shape;90;p15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sz="2000" b="1" u="sng" strike="noStrike" cap="none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  <a:endParaRPr lang="es-EC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dirty="0">
                <a:latin typeface="Times New Roman"/>
                <a:cs typeface="Times New Roman"/>
                <a:sym typeface="Times New Roman"/>
              </a:rPr>
              <a:t>Metodología</a:t>
            </a:r>
            <a:endParaRPr dirty="0"/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  <a:endParaRPr lang="es-EC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  <a:endParaRPr lang="es-EC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dirty="0" smtClean="0">
                <a:latin typeface="Times New Roman"/>
                <a:cs typeface="Times New Roman"/>
                <a:sym typeface="Times New Roman"/>
              </a:rPr>
              <a:t>Resultados</a:t>
            </a:r>
            <a:endParaRPr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932367" flipV="1">
            <a:off x="10994981" y="3149626"/>
            <a:ext cx="962615" cy="1153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3339" y="1825915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Rectángulo 16"/>
          <p:cNvSpPr/>
          <p:nvPr/>
        </p:nvSpPr>
        <p:spPr>
          <a:xfrm>
            <a:off x="3495131" y="2977409"/>
            <a:ext cx="32239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Big Data en Fútbol Profesional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Analítica de Datos en el Fútbol - Joakim Vivas - CTO &amp; Tech Leader |  Scaling Startups | AI Architecture &amp; Product Strateg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6421" y="844674"/>
            <a:ext cx="4028658" cy="2063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igas barriales de Quito, con reglas para utilizar canchas - El Comercio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0794" y="854311"/>
            <a:ext cx="3703800" cy="2069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ángulo 19"/>
          <p:cNvSpPr/>
          <p:nvPr/>
        </p:nvSpPr>
        <p:spPr>
          <a:xfrm>
            <a:off x="8023804" y="2924883"/>
            <a:ext cx="39292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Vacío Tecnológico en Fútbol Amateur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9625" y="3853413"/>
            <a:ext cx="1169622" cy="1182618"/>
          </a:xfrm>
          <a:prstGeom prst="rect">
            <a:avLst/>
          </a:prstGeom>
        </p:spPr>
      </p:pic>
      <p:sp>
        <p:nvSpPr>
          <p:cNvPr id="22" name="Rectángulo 21"/>
          <p:cNvSpPr/>
          <p:nvPr/>
        </p:nvSpPr>
        <p:spPr>
          <a:xfrm>
            <a:off x="5386297" y="5036031"/>
            <a:ext cx="23519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Ausencia de Registros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794" y="1656715"/>
            <a:ext cx="1405064" cy="1266926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326" y="3736404"/>
            <a:ext cx="1443005" cy="1267447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6331" y="3830311"/>
            <a:ext cx="1054524" cy="1079632"/>
          </a:xfrm>
          <a:prstGeom prst="rect">
            <a:avLst/>
          </a:prstGeom>
        </p:spPr>
      </p:pic>
      <p:sp>
        <p:nvSpPr>
          <p:cNvPr id="26" name="Rectángulo 25"/>
          <p:cNvSpPr/>
          <p:nvPr/>
        </p:nvSpPr>
        <p:spPr>
          <a:xfrm>
            <a:off x="7845461" y="5025270"/>
            <a:ext cx="41344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Dependencia de memoria y subjetividad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Google Shape;115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19515392" flipH="1">
            <a:off x="7316350" y="3228581"/>
            <a:ext cx="877954" cy="65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2428" y="3736404"/>
            <a:ext cx="1204110" cy="1317913"/>
          </a:xfrm>
          <a:prstGeom prst="rect">
            <a:avLst/>
          </a:prstGeom>
        </p:spPr>
      </p:pic>
      <p:sp>
        <p:nvSpPr>
          <p:cNvPr id="29" name="Rectángulo 28"/>
          <p:cNvSpPr/>
          <p:nvPr/>
        </p:nvSpPr>
        <p:spPr>
          <a:xfrm>
            <a:off x="2892534" y="5082736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Afecta la motivación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Google Shape;115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flipH="1">
            <a:off x="4780339" y="4174113"/>
            <a:ext cx="877954" cy="65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82;p14" descr="Imagen que contiene alimentos&#10;&#10;Descripción generada automáticament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09;p1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7" y="2756850"/>
            <a:ext cx="6173719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 smtClean="0">
                <a:solidFill>
                  <a:schemeClr val="dk1"/>
                </a:solidFill>
              </a:rPr>
              <a:t>Objetivos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549320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0"/>
          <p:cNvSpPr txBox="1">
            <a:spLocks noGrp="1"/>
          </p:cNvSpPr>
          <p:nvPr>
            <p:ph type="title"/>
          </p:nvPr>
        </p:nvSpPr>
        <p:spPr>
          <a:xfrm>
            <a:off x="1085700" y="-268128"/>
            <a:ext cx="11106300" cy="1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>
                <a:solidFill>
                  <a:schemeClr val="dk1"/>
                </a:solidFill>
              </a:rPr>
              <a:t>Objetivo general</a:t>
            </a:r>
            <a:endParaRPr dirty="0"/>
          </a:p>
        </p:txBody>
      </p:sp>
      <p:sp>
        <p:nvSpPr>
          <p:cNvPr id="332" name="Google Shape;332;p20"/>
          <p:cNvSpPr txBox="1"/>
          <p:nvPr/>
        </p:nvSpPr>
        <p:spPr>
          <a:xfrm>
            <a:off x="3113418" y="2284438"/>
            <a:ext cx="5321833" cy="227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200"/>
            </a:pPr>
            <a:r>
              <a:rPr lang="es-MX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 un prototipo </a:t>
            </a:r>
            <a:r>
              <a:rPr lang="es-MX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</a:t>
            </a:r>
            <a:r>
              <a:rPr lang="es-MX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Aplicación Móvil </a:t>
            </a:r>
            <a:r>
              <a:rPr lang="es-MX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enfocada en el análisis del </a:t>
            </a:r>
            <a:r>
              <a:rPr lang="es-MX" sz="2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rendimiento individual </a:t>
            </a:r>
            <a:r>
              <a:rPr lang="es-MX" sz="2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futbolistas amateur por medio del registro de </a:t>
            </a:r>
            <a:r>
              <a:rPr lang="es-MX" sz="28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resultados.</a:t>
            </a:r>
            <a:endParaRPr lang="es-MX" sz="28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sz="2000" b="1" u="sng" strike="noStrike" cap="none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  <a:endParaRPr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Metodología</a:t>
            </a:r>
            <a:endParaRPr lang="es-MX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lvl="0">
              <a:spcBef>
                <a:spcPts val="280"/>
              </a:spcBef>
              <a:buClr>
                <a:schemeClr val="dk1"/>
              </a:buClr>
              <a:buSzPts val="1400"/>
            </a:pPr>
            <a:endParaRPr lang="es-MX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7" name="Google Shape;3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3" y="2288752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9769" y="1486214"/>
            <a:ext cx="2400635" cy="3439005"/>
          </a:xfrm>
          <a:prstGeom prst="rect">
            <a:avLst/>
          </a:prstGeom>
        </p:spPr>
      </p:pic>
      <p:pic>
        <p:nvPicPr>
          <p:cNvPr id="12" name="Google Shape;82;p14" descr="Imagen que contiene alimentos&#10;&#10;Descripción generada automá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09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36;p20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sz="2000" b="1" u="sng" strike="noStrike" cap="none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  <a:endParaRPr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Metodología</a:t>
            </a:r>
            <a:endParaRPr lang="es-MX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lvl="0">
              <a:spcBef>
                <a:spcPts val="280"/>
              </a:spcBef>
              <a:buClr>
                <a:schemeClr val="dk1"/>
              </a:buClr>
              <a:buSzPts val="1400"/>
            </a:pPr>
            <a:endParaRPr lang="es-MX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33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3" y="2288752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1"/>
          <p:cNvSpPr txBox="1">
            <a:spLocks noGrp="1"/>
          </p:cNvSpPr>
          <p:nvPr>
            <p:ph type="title"/>
          </p:nvPr>
        </p:nvSpPr>
        <p:spPr>
          <a:xfrm>
            <a:off x="916400" y="-254000"/>
            <a:ext cx="11235900" cy="11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>
                <a:solidFill>
                  <a:schemeClr val="dk1"/>
                </a:solidFill>
              </a:rPr>
              <a:t>Objetivos específicos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45" name="Google Shape;345;p21"/>
          <p:cNvSpPr txBox="1"/>
          <p:nvPr/>
        </p:nvSpPr>
        <p:spPr>
          <a:xfrm>
            <a:off x="2756888" y="3616950"/>
            <a:ext cx="3825300" cy="22774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000"/>
            </a:pPr>
            <a:r>
              <a:rPr lang="es-MX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Fundamentar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teóricamente el proyecto a través de la elaboración del estado del 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arte acerca 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aplicaciones móviles enfocadas en el </a:t>
            </a:r>
            <a:r>
              <a:rPr lang="es-MX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seguimiento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el </a:t>
            </a:r>
            <a:r>
              <a:rPr lang="es-MX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análisis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 rendimiento 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deportivo en 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futbolistas.</a:t>
            </a:r>
            <a:endParaRPr lang="es-MX"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>
            <a:off x="7554175" y="3656625"/>
            <a:ext cx="3825300" cy="1661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000"/>
            </a:pPr>
            <a:r>
              <a:rPr lang="es-MX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Diseñar mockups 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baja fidelidad y de alta fidelidad para la aplicación móvil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centrados 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ofrecer una correcta experiencia de 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usuario.</a:t>
            </a:r>
            <a:endParaRPr lang="es-MX"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7263" y="1488267"/>
            <a:ext cx="1884549" cy="1884549"/>
          </a:xfrm>
          <a:prstGeom prst="rect">
            <a:avLst/>
          </a:prstGeom>
        </p:spPr>
      </p:pic>
      <p:grpSp>
        <p:nvGrpSpPr>
          <p:cNvPr id="6" name="Grupo 5"/>
          <p:cNvGrpSpPr/>
          <p:nvPr/>
        </p:nvGrpSpPr>
        <p:grpSpPr>
          <a:xfrm>
            <a:off x="8206772" y="1395320"/>
            <a:ext cx="2520106" cy="2070441"/>
            <a:chOff x="8094611" y="1344152"/>
            <a:chExt cx="2520106" cy="2070441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4611" y="1344152"/>
              <a:ext cx="1903417" cy="1903417"/>
            </a:xfrm>
            <a:prstGeom prst="rect">
              <a:avLst/>
            </a:prstGeom>
          </p:spPr>
        </p:pic>
        <p:pic>
          <p:nvPicPr>
            <p:cNvPr id="3" name="Imagen 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11300" y="1511176"/>
              <a:ext cx="1903417" cy="1903417"/>
            </a:xfrm>
            <a:prstGeom prst="rect">
              <a:avLst/>
            </a:prstGeom>
          </p:spPr>
        </p:pic>
      </p:grpSp>
      <p:pic>
        <p:nvPicPr>
          <p:cNvPr id="19" name="Google Shape;82;p14" descr="Imagen que contiene alimentos&#10;&#10;Descripción generada automáticament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09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"/>
          <p:cNvSpPr txBox="1">
            <a:spLocks noGrp="1"/>
          </p:cNvSpPr>
          <p:nvPr>
            <p:ph type="title"/>
          </p:nvPr>
        </p:nvSpPr>
        <p:spPr>
          <a:xfrm>
            <a:off x="916400" y="-254000"/>
            <a:ext cx="11235900" cy="11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>
                <a:solidFill>
                  <a:schemeClr val="dk1"/>
                </a:solidFill>
              </a:rPr>
              <a:t>Objetivos específicos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3038261" y="3714498"/>
            <a:ext cx="3853500" cy="1661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000"/>
            </a:pPr>
            <a:r>
              <a:rPr lang="es-MX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Desarrollar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 aplicación móvil mediante la metodología de la </a:t>
            </a:r>
            <a:r>
              <a:rPr lang="es-MX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Ciencia del Diseño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 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ofrecer una experiencia agradable y eficiente para futbolistas amateurs.</a:t>
            </a:r>
            <a:endParaRPr lang="es-MX"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2"/>
          <p:cNvSpPr txBox="1"/>
          <p:nvPr/>
        </p:nvSpPr>
        <p:spPr>
          <a:xfrm>
            <a:off x="7524536" y="3714498"/>
            <a:ext cx="4438962" cy="1661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000"/>
            </a:pPr>
            <a:r>
              <a:rPr lang="es-MX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Evaluar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el prototipo desarrollado de la aplicación móvil con futbolistas amateurs 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distintas </a:t>
            </a:r>
            <a:r>
              <a:rPr lang="es-MX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aristas para determinar su funcionalidad, usabilidad y nivel de aceptación.</a:t>
            </a:r>
            <a:endParaRPr lang="es-MX"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1461" y="1662423"/>
            <a:ext cx="1899675" cy="1899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2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dirty="0"/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Metodología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726" y="2255911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1739" y="1829238"/>
            <a:ext cx="1632648" cy="1627943"/>
          </a:xfrm>
          <a:prstGeom prst="rect">
            <a:avLst/>
          </a:prstGeom>
        </p:spPr>
      </p:pic>
      <p:pic>
        <p:nvPicPr>
          <p:cNvPr id="13" name="Google Shape;82;p14" descr="Imagen que contiene alimentos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09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7" y="2756850"/>
            <a:ext cx="6173719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 smtClean="0">
                <a:solidFill>
                  <a:schemeClr val="dk1"/>
                </a:solidFill>
              </a:rPr>
              <a:t>Metodología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595109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7"/>
          <p:cNvSpPr txBox="1">
            <a:spLocks noGrp="1"/>
          </p:cNvSpPr>
          <p:nvPr>
            <p:ph type="title"/>
          </p:nvPr>
        </p:nvSpPr>
        <p:spPr>
          <a:xfrm>
            <a:off x="1075861" y="-298627"/>
            <a:ext cx="109728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>
                <a:solidFill>
                  <a:schemeClr val="dk1"/>
                </a:solidFill>
              </a:rPr>
              <a:t>Metodología</a:t>
            </a:r>
            <a:endParaRPr dirty="0"/>
          </a:p>
        </p:txBody>
      </p:sp>
      <p:sp>
        <p:nvSpPr>
          <p:cNvPr id="222" name="Google Shape;222;p17"/>
          <p:cNvSpPr txBox="1"/>
          <p:nvPr/>
        </p:nvSpPr>
        <p:spPr>
          <a:xfrm>
            <a:off x="-17145" y="619350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lang="es-EC" dirty="0">
              <a:solidFill>
                <a:srgbClr val="FF0066"/>
              </a:solidFill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EC" sz="2000" b="1" u="sng" strike="noStrike" cap="none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endParaRPr lang="es-EC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strike="noStrike" cap="none" dirty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lvl="0">
              <a:spcBef>
                <a:spcPts val="280"/>
              </a:spcBef>
              <a:buClr>
                <a:schemeClr val="dk1"/>
              </a:buClr>
              <a:buSzPts val="1400"/>
            </a:pPr>
            <a:endParaRPr lang="es-MX"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00" y="2757662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472" y="1571711"/>
            <a:ext cx="7240765" cy="4072930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5147234" y="916717"/>
            <a:ext cx="47612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Ciencia </a:t>
            </a:r>
            <a:r>
              <a:rPr lang="es-EC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 Diseño presentada por Peffers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4542" y="2912687"/>
            <a:ext cx="1289659" cy="1275169"/>
          </a:xfrm>
          <a:prstGeom prst="rect">
            <a:avLst/>
          </a:prstGeom>
        </p:spPr>
      </p:pic>
      <p:pic>
        <p:nvPicPr>
          <p:cNvPr id="21" name="Google Shape;82;p14" descr="Imagen que contiene alimentos&#10;&#10;Descripción generada automá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09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7" y="2756850"/>
            <a:ext cx="6173719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 smtClean="0">
                <a:solidFill>
                  <a:schemeClr val="dk1"/>
                </a:solidFill>
              </a:rPr>
              <a:t>Desarrollo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3523375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>
            <a:spLocks noGrp="1"/>
          </p:cNvSpPr>
          <p:nvPr>
            <p:ph type="title"/>
          </p:nvPr>
        </p:nvSpPr>
        <p:spPr>
          <a:xfrm>
            <a:off x="2274486" y="-370800"/>
            <a:ext cx="9924600" cy="13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MX" dirty="0" smtClean="0">
                <a:solidFill>
                  <a:schemeClr val="dk1"/>
                </a:solidFill>
              </a:rPr>
              <a:t>Casos de Uso</a:t>
            </a:r>
            <a:endParaRPr lang="es-MX" dirty="0">
              <a:solidFill>
                <a:schemeClr val="dk1"/>
              </a:solidFill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  <a:endParaRPr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6" y="2955839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2;p14" descr="Imagen que contiene alimento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ángulo 13"/>
          <p:cNvSpPr/>
          <p:nvPr/>
        </p:nvSpPr>
        <p:spPr>
          <a:xfrm>
            <a:off x="9020573" y="5371842"/>
            <a:ext cx="22381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Arquitectura del Artefacto</a:t>
            </a:r>
            <a:endParaRPr lang="es-EC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a 3"/>
          <p:cNvGraphicFramePr>
            <a:graphicFrameLocks noGrp="1"/>
          </p:cNvGraphicFramePr>
          <p:nvPr/>
        </p:nvGraphicFramePr>
        <p:xfrm>
          <a:off x="3176735" y="866764"/>
          <a:ext cx="8365908" cy="50956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106336"/>
                <a:gridCol w="3615225"/>
                <a:gridCol w="3644347"/>
              </a:tblGrid>
              <a:tr h="540542">
                <a:tc>
                  <a:txBody>
                    <a:bodyPr/>
                    <a:lstStyle/>
                    <a:p>
                      <a:pPr algn="ctr"/>
                      <a:r>
                        <a:rPr lang="es-EC" sz="2000" dirty="0" smtClean="0"/>
                        <a:t>ID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2000" dirty="0" smtClean="0"/>
                        <a:t>Caso de Uso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C" sz="2000" dirty="0" smtClean="0"/>
                        <a:t>Criterio</a:t>
                      </a:r>
                      <a:r>
                        <a:rPr lang="es-EC" sz="2000" baseline="0" dirty="0" smtClean="0"/>
                        <a:t>s</a:t>
                      </a:r>
                      <a:endParaRPr lang="es-EC" sz="2000" dirty="0"/>
                    </a:p>
                  </a:txBody>
                  <a:tcPr/>
                </a:tc>
              </a:tr>
              <a:tr h="759186">
                <a:tc>
                  <a:txBody>
                    <a:bodyPr/>
                    <a:lstStyle/>
                    <a:p>
                      <a:r>
                        <a:rPr lang="es-EC" sz="2000" b="1" dirty="0" smtClean="0"/>
                        <a:t>CA-01</a:t>
                      </a:r>
                      <a:endParaRPr lang="es-EC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2000" dirty="0" smtClean="0"/>
                        <a:t>Gestionar Autenticación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</a:tr>
              <a:tr h="759186">
                <a:tc>
                  <a:txBody>
                    <a:bodyPr/>
                    <a:lstStyle/>
                    <a:p>
                      <a:r>
                        <a:rPr lang="es-EC" sz="2000" b="1" dirty="0" smtClean="0"/>
                        <a:t>CA-02</a:t>
                      </a:r>
                      <a:endParaRPr lang="es-EC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2000" dirty="0" smtClean="0"/>
                        <a:t>Gestionar</a:t>
                      </a:r>
                      <a:r>
                        <a:rPr lang="es-EC" sz="2000" baseline="0" dirty="0" smtClean="0"/>
                        <a:t> perfil y datos antropométricos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</a:tr>
              <a:tr h="759186">
                <a:tc>
                  <a:txBody>
                    <a:bodyPr/>
                    <a:lstStyle/>
                    <a:p>
                      <a:r>
                        <a:rPr lang="es-EC" sz="2000" b="1" dirty="0" smtClean="0"/>
                        <a:t>CA-03</a:t>
                      </a:r>
                      <a:endParaRPr lang="es-EC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2000" dirty="0" smtClean="0"/>
                        <a:t>Planificar próximo partido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</a:tr>
              <a:tr h="759186">
                <a:tc>
                  <a:txBody>
                    <a:bodyPr/>
                    <a:lstStyle/>
                    <a:p>
                      <a:r>
                        <a:rPr lang="es-EC" sz="2000" b="1" dirty="0" smtClean="0"/>
                        <a:t>CA-04</a:t>
                      </a:r>
                      <a:endParaRPr lang="es-EC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2000" dirty="0" smtClean="0"/>
                        <a:t>Registrar</a:t>
                      </a:r>
                      <a:r>
                        <a:rPr lang="es-EC" sz="2000" baseline="0" dirty="0" smtClean="0"/>
                        <a:t> resultados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</a:tr>
              <a:tr h="759186">
                <a:tc>
                  <a:txBody>
                    <a:bodyPr/>
                    <a:lstStyle/>
                    <a:p>
                      <a:r>
                        <a:rPr lang="es-EC" sz="2000" b="1" dirty="0" smtClean="0"/>
                        <a:t>CA-05</a:t>
                      </a:r>
                      <a:endParaRPr lang="es-EC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2000" dirty="0" smtClean="0"/>
                        <a:t>Evaluar bienestar y esfuerzo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</a:tr>
              <a:tr h="759186">
                <a:tc>
                  <a:txBody>
                    <a:bodyPr/>
                    <a:lstStyle/>
                    <a:p>
                      <a:r>
                        <a:rPr lang="es-EC" sz="2000" b="1" dirty="0" smtClean="0"/>
                        <a:t>CA-06</a:t>
                      </a:r>
                      <a:endParaRPr lang="es-EC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C" sz="2000" dirty="0" smtClean="0"/>
                        <a:t>Consultar</a:t>
                      </a:r>
                      <a:r>
                        <a:rPr lang="es-EC" sz="2000" baseline="0" dirty="0" smtClean="0"/>
                        <a:t> analítica</a:t>
                      </a:r>
                      <a:endParaRPr lang="es-EC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C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1" name="Picture 4" descr="email and mail icon black 20009614 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3094" y="1375302"/>
            <a:ext cx="779948" cy="779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ile:Google &quot;G&quot; logo.svg - Wikimedia Comm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4814" y="1471343"/>
            <a:ext cx="590419" cy="59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4324" y="2252964"/>
            <a:ext cx="605773" cy="605773"/>
          </a:xfrm>
          <a:prstGeom prst="rect">
            <a:avLst/>
          </a:prstGeom>
        </p:spPr>
      </p:pic>
      <p:pic>
        <p:nvPicPr>
          <p:cNvPr id="2056" name="Picture 8" descr="Calcula tu IMC - Más vida sin obesida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4864" y="2247393"/>
            <a:ext cx="1060737" cy="608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alcula Tu Índice de Masa Corporal IMC en Segundos en Línea | BIRDMAN —  Birdman MX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6898" y="2183896"/>
            <a:ext cx="1972726" cy="694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lanificación - Iconos gratis de negocios y finanzas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888" y="2965247"/>
            <a:ext cx="625617" cy="625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8278" y="3633462"/>
            <a:ext cx="964590" cy="783560"/>
          </a:xfrm>
          <a:prstGeom prst="rect">
            <a:avLst/>
          </a:prstGeom>
        </p:spPr>
      </p:pic>
      <p:pic>
        <p:nvPicPr>
          <p:cNvPr id="2062" name="Picture 14" descr="Calendario PNG para descargar gratis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902" y="2933588"/>
            <a:ext cx="674989" cy="67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Estadísticas - Iconos gratis de flechas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1565" y="3660984"/>
            <a:ext cx="820369" cy="82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0030" y="4580430"/>
            <a:ext cx="1981086" cy="431714"/>
          </a:xfrm>
          <a:prstGeom prst="rect">
            <a:avLst/>
          </a:prstGeom>
        </p:spPr>
      </p:pic>
      <p:pic>
        <p:nvPicPr>
          <p:cNvPr id="2066" name="Picture 18" descr="Cuadro De Dibujos Animados Con Tema De Humor Verde Rojo Y Amarillo PNG  ,dibujos Tabla De Estados De ánimo, Expresión, Verde PNG y Vector para  Descargar Gratis | Pngtree"/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08" t="32930" r="5733" b="33395"/>
          <a:stretch/>
        </p:blipFill>
        <p:spPr bwMode="auto">
          <a:xfrm>
            <a:off x="10218354" y="4583539"/>
            <a:ext cx="1127160" cy="42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Análisis de los datos - Iconos gratis de negocios y finanzas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0237" y="5240825"/>
            <a:ext cx="689153" cy="68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Gráfico de radar con forma de pentágono - Iconos gratis de interfaz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344" y="5188313"/>
            <a:ext cx="742564" cy="74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6" name="Picture 28" descr="diseño de icono de filtro 32328532 PNG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739" y="5231774"/>
            <a:ext cx="739700" cy="73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oogle Shape;109;p15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8410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>
            <a:spLocks noGrp="1"/>
          </p:cNvSpPr>
          <p:nvPr>
            <p:ph type="title"/>
          </p:nvPr>
        </p:nvSpPr>
        <p:spPr>
          <a:xfrm>
            <a:off x="2274486" y="-370800"/>
            <a:ext cx="9924600" cy="13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MX" dirty="0" smtClean="0">
                <a:solidFill>
                  <a:schemeClr val="dk1"/>
                </a:solidFill>
              </a:rPr>
              <a:t>Arquitectura del Artefacto</a:t>
            </a:r>
            <a:endParaRPr lang="es-MX" dirty="0">
              <a:solidFill>
                <a:schemeClr val="dk1"/>
              </a:solidFill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  <a:endParaRPr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6" y="2955839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2;p14" descr="Imagen que contiene alimento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239" y="974100"/>
            <a:ext cx="9295334" cy="4669665"/>
          </a:xfrm>
          <a:prstGeom prst="rect">
            <a:avLst/>
          </a:prstGeom>
        </p:spPr>
      </p:pic>
      <p:pic>
        <p:nvPicPr>
          <p:cNvPr id="18" name="Google Shape;109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97090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>
            <a:spLocks noGrp="1"/>
          </p:cNvSpPr>
          <p:nvPr>
            <p:ph type="title"/>
          </p:nvPr>
        </p:nvSpPr>
        <p:spPr>
          <a:xfrm>
            <a:off x="2274486" y="-370800"/>
            <a:ext cx="9924600" cy="13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MX" dirty="0" smtClean="0">
                <a:solidFill>
                  <a:schemeClr val="dk1"/>
                </a:solidFill>
              </a:rPr>
              <a:t>Mockups</a:t>
            </a:r>
            <a:endParaRPr lang="es-MX" dirty="0">
              <a:solidFill>
                <a:schemeClr val="dk1"/>
              </a:solidFill>
            </a:endParaRPr>
          </a:p>
        </p:txBody>
      </p:sp>
      <p:sp>
        <p:nvSpPr>
          <p:cNvPr id="406" name="Google Shape;406;p23"/>
          <p:cNvSpPr txBox="1">
            <a:spLocks noGrp="1"/>
          </p:cNvSpPr>
          <p:nvPr>
            <p:ph type="sldNum" idx="12"/>
          </p:nvPr>
        </p:nvSpPr>
        <p:spPr>
          <a:xfrm>
            <a:off x="5730145" y="6308559"/>
            <a:ext cx="731700" cy="5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C"/>
              <a:t>14</a:t>
            </a:fld>
            <a:endParaRPr/>
          </a:p>
        </p:txBody>
      </p:sp>
      <p:sp>
        <p:nvSpPr>
          <p:cNvPr id="407" name="Google Shape;407;p23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  <a:endParaRPr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6" y="2955839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2;p14" descr="Imagen que contiene alimento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Imagen 4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268" y="780850"/>
            <a:ext cx="2177799" cy="4723189"/>
          </a:xfrm>
          <a:prstGeom prst="rect">
            <a:avLst/>
          </a:prstGeom>
        </p:spPr>
      </p:pic>
      <p:pic>
        <p:nvPicPr>
          <p:cNvPr id="48" name="Imagen 47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260" y="740702"/>
            <a:ext cx="2144071" cy="4723188"/>
          </a:xfrm>
          <a:prstGeom prst="rect">
            <a:avLst/>
          </a:prstGeom>
        </p:spPr>
      </p:pic>
      <p:pic>
        <p:nvPicPr>
          <p:cNvPr id="50" name="Imagen 49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524" y="798905"/>
            <a:ext cx="2039437" cy="4517842"/>
          </a:xfrm>
          <a:prstGeom prst="rect">
            <a:avLst/>
          </a:prstGeom>
        </p:spPr>
      </p:pic>
      <p:pic>
        <p:nvPicPr>
          <p:cNvPr id="51" name="Imagen 50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154" y="813466"/>
            <a:ext cx="2185954" cy="4650424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4099431" y="5463890"/>
            <a:ext cx="21050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Pantalla de Inicio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ángulo 18"/>
          <p:cNvSpPr/>
          <p:nvPr/>
        </p:nvSpPr>
        <p:spPr>
          <a:xfrm>
            <a:off x="8168395" y="5463890"/>
            <a:ext cx="32015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Registro y Edición de Perfil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Google Shape;109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139448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"/>
          <p:cNvSpPr txBox="1">
            <a:spLocks noGrp="1"/>
          </p:cNvSpPr>
          <p:nvPr>
            <p:ph type="title"/>
          </p:nvPr>
        </p:nvSpPr>
        <p:spPr>
          <a:xfrm>
            <a:off x="2274486" y="-370800"/>
            <a:ext cx="9924600" cy="13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MX" dirty="0" smtClean="0">
                <a:solidFill>
                  <a:schemeClr val="dk1"/>
                </a:solidFill>
              </a:rPr>
              <a:t>Mockups</a:t>
            </a:r>
            <a:endParaRPr lang="es-MX" dirty="0">
              <a:solidFill>
                <a:schemeClr val="dk1"/>
              </a:solidFill>
            </a:endParaRPr>
          </a:p>
        </p:txBody>
      </p:sp>
      <p:sp>
        <p:nvSpPr>
          <p:cNvPr id="407" name="Google Shape;407;p23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Desarrollo</a:t>
            </a:r>
            <a:endParaRPr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26" y="2955839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82;p14" descr="Imagen que contiene alimento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Imagen 5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4997" y="1211137"/>
            <a:ext cx="2292585" cy="4038228"/>
          </a:xfrm>
          <a:prstGeom prst="rect">
            <a:avLst/>
          </a:prstGeom>
        </p:spPr>
      </p:pic>
      <p:pic>
        <p:nvPicPr>
          <p:cNvPr id="57" name="Imagen 56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679" y="1211137"/>
            <a:ext cx="2100472" cy="4038227"/>
          </a:xfrm>
          <a:prstGeom prst="rect">
            <a:avLst/>
          </a:prstGeom>
        </p:spPr>
      </p:pic>
      <p:pic>
        <p:nvPicPr>
          <p:cNvPr id="58" name="Imagen 57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577" y="1190265"/>
            <a:ext cx="2100496" cy="4038227"/>
          </a:xfrm>
          <a:prstGeom prst="rect">
            <a:avLst/>
          </a:prstGeom>
        </p:spPr>
      </p:pic>
      <p:pic>
        <p:nvPicPr>
          <p:cNvPr id="59" name="Imagen 58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7509" y="1190265"/>
            <a:ext cx="2100616" cy="4038227"/>
          </a:xfrm>
          <a:prstGeom prst="rect">
            <a:avLst/>
          </a:prstGeom>
        </p:spPr>
      </p:pic>
      <p:sp>
        <p:nvSpPr>
          <p:cNvPr id="60" name="Rectángulo 59"/>
          <p:cNvSpPr/>
          <p:nvPr/>
        </p:nvSpPr>
        <p:spPr>
          <a:xfrm>
            <a:off x="4094920" y="5286346"/>
            <a:ext cx="20906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Pantalla de Perfil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ángulo 60"/>
          <p:cNvSpPr/>
          <p:nvPr/>
        </p:nvSpPr>
        <p:spPr>
          <a:xfrm>
            <a:off x="8869442" y="5286346"/>
            <a:ext cx="245932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Historial de Partidos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Google Shape;109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065838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7" y="2756850"/>
            <a:ext cx="6173719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 smtClean="0">
                <a:solidFill>
                  <a:schemeClr val="dk1"/>
                </a:solidFill>
              </a:rPr>
              <a:t>Pruebas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083229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>
            <a:spLocks noGrp="1"/>
          </p:cNvSpPr>
          <p:nvPr>
            <p:ph type="title"/>
          </p:nvPr>
        </p:nvSpPr>
        <p:spPr>
          <a:xfrm>
            <a:off x="970574" y="-242474"/>
            <a:ext cx="11106300" cy="1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Pruebas de Control de Calidad</a:t>
            </a:r>
            <a:endParaRPr dirty="0"/>
          </a:p>
        </p:txBody>
      </p:sp>
      <p:sp>
        <p:nvSpPr>
          <p:cNvPr id="319" name="Google Shape;319;p19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2000" b="1" u="sng" dirty="0" err="1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  <a:endParaRPr dirty="0"/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14" y="3669273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>
            <a:extLst>
              <a:ext uri="{FF2B5EF4-FFF2-40B4-BE49-F238E27FC236}">
                <a16:creationId xmlns="" xmlns:a16="http://schemas.microsoft.com/office/drawing/2014/main" id="{DF8D7028-7FC4-164E-4D88-70BFF03B13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11" name="Google Shape;82;p14" descr="Imagen que contiene alimento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Grupo 8"/>
          <p:cNvGrpSpPr/>
          <p:nvPr/>
        </p:nvGrpSpPr>
        <p:grpSpPr>
          <a:xfrm>
            <a:off x="3768252" y="1592784"/>
            <a:ext cx="2480167" cy="2650080"/>
            <a:chOff x="3314343" y="887202"/>
            <a:chExt cx="2061069" cy="2262222"/>
          </a:xfrm>
        </p:grpSpPr>
        <p:sp>
          <p:nvSpPr>
            <p:cNvPr id="13" name="Rectángulo 12"/>
            <p:cNvSpPr/>
            <p:nvPr/>
          </p:nvSpPr>
          <p:spPr>
            <a:xfrm>
              <a:off x="3314343" y="2834146"/>
              <a:ext cx="2061069" cy="3152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s-EC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Pruebas de Integración</a:t>
              </a:r>
              <a:endParaRPr lang="es-EC" sz="1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27476" y="887202"/>
              <a:ext cx="1923245" cy="1902283"/>
            </a:xfrm>
            <a:prstGeom prst="rect">
              <a:avLst/>
            </a:prstGeom>
          </p:spPr>
        </p:pic>
      </p:grpSp>
      <p:grpSp>
        <p:nvGrpSpPr>
          <p:cNvPr id="10" name="Grupo 9"/>
          <p:cNvGrpSpPr/>
          <p:nvPr/>
        </p:nvGrpSpPr>
        <p:grpSpPr>
          <a:xfrm>
            <a:off x="7909357" y="1412777"/>
            <a:ext cx="3339890" cy="2893409"/>
            <a:chOff x="7874466" y="898726"/>
            <a:chExt cx="2407218" cy="2304752"/>
          </a:xfrm>
        </p:grpSpPr>
        <p:pic>
          <p:nvPicPr>
            <p:cNvPr id="8" name="Imagen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74466" y="898726"/>
              <a:ext cx="2407218" cy="1940146"/>
            </a:xfrm>
            <a:prstGeom prst="rect">
              <a:avLst/>
            </a:prstGeom>
          </p:spPr>
        </p:pic>
        <p:sp>
          <p:nvSpPr>
            <p:cNvPr id="24" name="Rectángulo 23"/>
            <p:cNvSpPr/>
            <p:nvPr/>
          </p:nvSpPr>
          <p:spPr>
            <a:xfrm>
              <a:off x="7874466" y="2834146"/>
              <a:ext cx="235192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/>
              <a:r>
                <a:rPr lang="es-EC" sz="1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Pruebas de validación</a:t>
              </a:r>
              <a:endParaRPr lang="es-EC" sz="1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" name="Imagen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5977" y="4279341"/>
            <a:ext cx="986650" cy="992288"/>
          </a:xfrm>
          <a:prstGeom prst="rect">
            <a:avLst/>
          </a:prstGeom>
        </p:spPr>
      </p:pic>
      <p:pic>
        <p:nvPicPr>
          <p:cNvPr id="21" name="Imagen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1152" y="4306186"/>
            <a:ext cx="948987" cy="965443"/>
          </a:xfrm>
          <a:prstGeom prst="rect">
            <a:avLst/>
          </a:prstGeom>
        </p:spPr>
      </p:pic>
      <p:pic>
        <p:nvPicPr>
          <p:cNvPr id="29" name="Google Shape;109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958793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>
            <a:spLocks noGrp="1"/>
          </p:cNvSpPr>
          <p:nvPr>
            <p:ph type="title"/>
          </p:nvPr>
        </p:nvSpPr>
        <p:spPr>
          <a:xfrm>
            <a:off x="970574" y="-242474"/>
            <a:ext cx="11106300" cy="1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Pruebas Unitarias</a:t>
            </a:r>
            <a:endParaRPr dirty="0"/>
          </a:p>
        </p:txBody>
      </p:sp>
      <p:sp>
        <p:nvSpPr>
          <p:cNvPr id="319" name="Google Shape;319;p19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2000" b="1" u="sng" dirty="0" err="1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Pruebas</a:t>
            </a:r>
            <a:endParaRPr dirty="0"/>
          </a:p>
          <a:p>
            <a:pPr algn="just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Demostración y Evaluación </a:t>
            </a:r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14" y="3669273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>
            <a:extLst>
              <a:ext uri="{FF2B5EF4-FFF2-40B4-BE49-F238E27FC236}">
                <a16:creationId xmlns="" xmlns:a16="http://schemas.microsoft.com/office/drawing/2014/main" id="{DF8D7028-7FC4-164E-4D88-70BFF03B13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11" name="Google Shape;82;p14" descr="Imagen que contiene alimento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9243" y="898726"/>
            <a:ext cx="1800953" cy="1908795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3392901" y="2807521"/>
            <a:ext cx="25506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 de Caja Blanca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0" descr="Calcula Tu Índice de Masa Corporal IMC en Segundos en Línea | BIRDMAN —  Birdman MX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942" y="1263182"/>
            <a:ext cx="4683442" cy="1648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Google Shape;11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9297" y="1762482"/>
            <a:ext cx="721242" cy="65036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345;p21"/>
          <p:cNvSpPr txBox="1"/>
          <p:nvPr/>
        </p:nvSpPr>
        <p:spPr>
          <a:xfrm>
            <a:off x="2705831" y="3398396"/>
            <a:ext cx="3825300" cy="1046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000"/>
            </a:pPr>
            <a:r>
              <a:rPr lang="es-MX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Peso en kg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70</a:t>
            </a:r>
          </a:p>
          <a:p>
            <a:pPr lvl="0" algn="just">
              <a:buSzPts val="2000"/>
            </a:pPr>
            <a:r>
              <a:rPr lang="es-MX" sz="2000" b="1" dirty="0" smtClean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Altura en Metros </a:t>
            </a:r>
            <a:r>
              <a:rPr lang="es-MX" sz="2000" dirty="0" smtClean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= 1.75</a:t>
            </a:r>
          </a:p>
          <a:p>
            <a:pPr lvl="0" algn="just">
              <a:buSzPts val="2000"/>
            </a:pPr>
            <a:r>
              <a:rPr lang="es-MX" sz="2000" b="1" i="0" u="none" strike="noStrike" cap="none" dirty="0" smtClean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Resultado Esperado </a:t>
            </a:r>
            <a:r>
              <a:rPr lang="es-MX" sz="2000" b="0" i="0" u="none" strike="noStrike" cap="none" dirty="0" smtClean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= 22.85</a:t>
            </a:r>
            <a:endParaRPr lang="es-MX"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7334976" y="3234833"/>
            <a:ext cx="2978989" cy="1209933"/>
            <a:chOff x="6700539" y="3339986"/>
            <a:chExt cx="2978989" cy="1209933"/>
          </a:xfrm>
        </p:grpSpPr>
        <p:sp>
          <p:nvSpPr>
            <p:cNvPr id="17" name="Google Shape;345;p21"/>
            <p:cNvSpPr txBox="1"/>
            <p:nvPr/>
          </p:nvSpPr>
          <p:spPr>
            <a:xfrm>
              <a:off x="6700539" y="3669273"/>
              <a:ext cx="1466659" cy="553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lvl="0" algn="just">
                <a:buSzPts val="2000"/>
              </a:pPr>
              <a:r>
                <a:rPr lang="es-MX" sz="2800" b="1" dirty="0" smtClean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IMC =</a:t>
              </a:r>
              <a:endParaRPr lang="es-MX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345;p21"/>
            <p:cNvSpPr txBox="1"/>
            <p:nvPr/>
          </p:nvSpPr>
          <p:spPr>
            <a:xfrm>
              <a:off x="8212869" y="3339986"/>
              <a:ext cx="1466659" cy="553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lvl="0" algn="just">
                <a:buSzPts val="2000"/>
              </a:pPr>
              <a:r>
                <a:rPr lang="es-MX" sz="2800" b="1" dirty="0" smtClean="0">
                  <a:solidFill>
                    <a:schemeClr val="dk1"/>
                  </a:solidFill>
                  <a:latin typeface="Times New Roman"/>
                  <a:cs typeface="Times New Roman"/>
                  <a:sym typeface="Times New Roman"/>
                </a:rPr>
                <a:t>70</a:t>
              </a:r>
              <a:endParaRPr lang="es-MX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Google Shape;345;p21"/>
                <p:cNvSpPr txBox="1"/>
                <p:nvPr/>
              </p:nvSpPr>
              <p:spPr>
                <a:xfrm>
                  <a:off x="7844396" y="3986246"/>
                  <a:ext cx="1466659" cy="5636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121900" tIns="60925" rIns="121900" bIns="60925" anchor="t" anchorCtr="0">
                  <a:spAutoFit/>
                </a:bodyPr>
                <a:lstStyle/>
                <a:p>
                  <a:pPr lvl="0" algn="just">
                    <a:buSzPts val="20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s-MX" sz="2800" b="1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</m:ctrlPr>
                          </m:sSupPr>
                          <m:e>
                            <m:r>
                              <a:rPr lang="es-EC" sz="2800" b="1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(</m:t>
                            </m:r>
                            <m:r>
                              <a:rPr lang="es-EC" sz="2800" b="1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𝟏</m:t>
                            </m:r>
                            <m:r>
                              <a:rPr lang="es-EC" sz="2800" b="1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.</m:t>
                            </m:r>
                            <m:r>
                              <a:rPr lang="es-EC" sz="2800" b="1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𝟕𝟓</m:t>
                            </m:r>
                            <m:r>
                              <a:rPr lang="es-EC" sz="2800" b="1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)</m:t>
                            </m:r>
                          </m:e>
                          <m:sup>
                            <m:r>
                              <a:rPr lang="es-MX" sz="2800" b="1" i="1" smtClean="0">
                                <a:solidFill>
                                  <a:schemeClr val="dk1"/>
                                </a:solidFill>
                                <a:latin typeface="Cambria Math" panose="02040503050406030204" pitchFamily="18" charset="0"/>
                                <a:cs typeface="Times New Roman"/>
                                <a:sym typeface="Times New Roman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s-MX" sz="3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mc:Choice>
          <mc:Fallback xmlns="">
            <p:sp>
              <p:nvSpPr>
                <p:cNvPr id="19" name="Google Shape;345;p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44396" y="3986246"/>
                  <a:ext cx="1466659" cy="563673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s-EC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Google Shape;345;p21"/>
            <p:cNvSpPr txBox="1"/>
            <p:nvPr/>
          </p:nvSpPr>
          <p:spPr>
            <a:xfrm>
              <a:off x="7844397" y="3471695"/>
              <a:ext cx="1466659" cy="5539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25" rIns="121900" bIns="60925" anchor="t" anchorCtr="0">
              <a:spAutoFit/>
            </a:bodyPr>
            <a:lstStyle/>
            <a:p>
              <a:pPr lvl="0" algn="just">
                <a:buSzPts val="2000"/>
              </a:pPr>
              <a:r>
                <a:rPr lang="es-MX" sz="2800" b="1" dirty="0" smtClean="0">
                  <a:solidFill>
                    <a:schemeClr val="dk1"/>
                  </a:solidFill>
                  <a:latin typeface="Cambria Math" panose="02040503050406030204" pitchFamily="18" charset="0"/>
                  <a:ea typeface="Cambria Math" panose="02040503050406030204" pitchFamily="18" charset="0"/>
                  <a:cs typeface="Times New Roman"/>
                  <a:sym typeface="Times New Roman"/>
                </a:rPr>
                <a:t>_________</a:t>
              </a:r>
              <a:endParaRPr lang="es-MX" sz="3200" b="0" i="0" u="none" strike="noStrike" cap="none" dirty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Arial"/>
              </a:endParaRPr>
            </a:p>
          </p:txBody>
        </p:sp>
      </p:grpSp>
      <p:sp>
        <p:nvSpPr>
          <p:cNvPr id="22" name="Google Shape;345;p21"/>
          <p:cNvSpPr txBox="1"/>
          <p:nvPr/>
        </p:nvSpPr>
        <p:spPr>
          <a:xfrm>
            <a:off x="7334975" y="4698658"/>
            <a:ext cx="2334325" cy="55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000"/>
            </a:pPr>
            <a:r>
              <a:rPr lang="es-MX" sz="2800" b="1" dirty="0" smtClean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IMC = </a:t>
            </a:r>
            <a:r>
              <a:rPr lang="es-MX" sz="2800" b="1" dirty="0" smtClean="0">
                <a:solidFill>
                  <a:schemeClr val="dk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/>
                <a:sym typeface="Times New Roman"/>
              </a:rPr>
              <a:t>22.85</a:t>
            </a:r>
            <a:endParaRPr lang="es-MX" sz="3200" b="0" i="0" u="none" strike="noStrike" cap="none" dirty="0">
              <a:solidFill>
                <a:schemeClr val="dk1"/>
              </a:solidFill>
              <a:latin typeface="Cambria Math" panose="02040503050406030204" pitchFamily="18" charset="0"/>
              <a:ea typeface="Cambria Math" panose="02040503050406030204" pitchFamily="18" charset="0"/>
              <a:sym typeface="Arial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3965" y="4162929"/>
            <a:ext cx="1491403" cy="135582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4259" y="3462072"/>
            <a:ext cx="825343" cy="775681"/>
          </a:xfrm>
          <a:prstGeom prst="rect">
            <a:avLst/>
          </a:prstGeom>
        </p:spPr>
      </p:pic>
      <p:sp>
        <p:nvSpPr>
          <p:cNvPr id="25" name="Google Shape;345;p21"/>
          <p:cNvSpPr txBox="1"/>
          <p:nvPr/>
        </p:nvSpPr>
        <p:spPr>
          <a:xfrm>
            <a:off x="4262870" y="4760212"/>
            <a:ext cx="2513869" cy="43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000"/>
            </a:pPr>
            <a:r>
              <a:rPr lang="es-MX" sz="2000" b="1" dirty="0" smtClean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Resultado Obtenido</a:t>
            </a:r>
            <a:endParaRPr lang="es-MX" sz="2400" b="0" i="0" u="none" strike="noStrike" cap="none" dirty="0">
              <a:solidFill>
                <a:schemeClr val="dk1"/>
              </a:solidFill>
              <a:latin typeface="Cambria Math" panose="02040503050406030204" pitchFamily="18" charset="0"/>
              <a:ea typeface="Cambria Math" panose="02040503050406030204" pitchFamily="18" charset="0"/>
              <a:sym typeface="Arial"/>
            </a:endParaRPr>
          </a:p>
        </p:txBody>
      </p:sp>
      <p:pic>
        <p:nvPicPr>
          <p:cNvPr id="26" name="Google Shape;115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13733" y="4681575"/>
            <a:ext cx="721242" cy="65036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345;p21"/>
          <p:cNvSpPr txBox="1"/>
          <p:nvPr/>
        </p:nvSpPr>
        <p:spPr>
          <a:xfrm>
            <a:off x="4413347" y="5350347"/>
            <a:ext cx="5532145" cy="43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lvl="0" algn="just">
              <a:buSzPts val="2000"/>
            </a:pPr>
            <a:r>
              <a:rPr lang="es-MX" sz="2000" b="1" dirty="0" smtClean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Resultado Esperado = Resultado Obtenido</a:t>
            </a:r>
            <a:endParaRPr lang="es-MX" sz="2400" b="0" i="0" u="none" strike="noStrike" cap="none" dirty="0">
              <a:solidFill>
                <a:schemeClr val="dk1"/>
              </a:solidFill>
              <a:latin typeface="Cambria Math" panose="02040503050406030204" pitchFamily="18" charset="0"/>
              <a:ea typeface="Cambria Math" panose="02040503050406030204" pitchFamily="18" charset="0"/>
              <a:sym typeface="Arial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4486275" y="5350347"/>
            <a:ext cx="4725887" cy="4440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29" name="Google Shape;109;p1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92403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7" y="2756850"/>
            <a:ext cx="6173719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 smtClean="0">
                <a:solidFill>
                  <a:schemeClr val="dk1"/>
                </a:solidFill>
              </a:rPr>
              <a:t>Demostración y Evaluación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o 15"/>
          <p:cNvGrpSpPr/>
          <p:nvPr/>
        </p:nvGrpSpPr>
        <p:grpSpPr>
          <a:xfrm>
            <a:off x="2386757" y="1075643"/>
            <a:ext cx="3198611" cy="1639081"/>
            <a:chOff x="1120665" y="1017028"/>
            <a:chExt cx="3198611" cy="1639081"/>
          </a:xfrm>
        </p:grpSpPr>
        <p:pic>
          <p:nvPicPr>
            <p:cNvPr id="4098" name="Picture 2" descr="Samsung Galaxy A30: ficha técnica de características y precio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003" r="15961"/>
            <a:stretch/>
          </p:blipFill>
          <p:spPr bwMode="auto">
            <a:xfrm>
              <a:off x="1120665" y="1017028"/>
              <a:ext cx="1720881" cy="1639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0" name="Picture 4" descr="Android | Innotu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5688" y="1048124"/>
              <a:ext cx="1343588" cy="1576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2279" y="3510975"/>
            <a:ext cx="1282213" cy="1511864"/>
          </a:xfrm>
          <a:prstGeom prst="rect">
            <a:avLst/>
          </a:prstGeom>
        </p:spPr>
      </p:pic>
      <p:grpSp>
        <p:nvGrpSpPr>
          <p:cNvPr id="14" name="Grupo 13"/>
          <p:cNvGrpSpPr/>
          <p:nvPr/>
        </p:nvGrpSpPr>
        <p:grpSpPr>
          <a:xfrm>
            <a:off x="7280049" y="3364983"/>
            <a:ext cx="1953673" cy="1779639"/>
            <a:chOff x="4153458" y="4011561"/>
            <a:chExt cx="1424876" cy="1397649"/>
          </a:xfrm>
        </p:grpSpPr>
        <p:pic>
          <p:nvPicPr>
            <p:cNvPr id="13" name="Imagen 1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23391" y="4011561"/>
              <a:ext cx="1354943" cy="1397649"/>
            </a:xfrm>
            <a:prstGeom prst="rect">
              <a:avLst/>
            </a:prstGeom>
          </p:spPr>
        </p:pic>
        <p:pic>
          <p:nvPicPr>
            <p:cNvPr id="4102" name="Picture 6" descr="Firebase icon logo in PNG and vector formats (SVG, AI)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53458" y="4710385"/>
              <a:ext cx="518096" cy="65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Google Shape;291;p19"/>
          <p:cNvSpPr txBox="1">
            <a:spLocks noGrp="1"/>
          </p:cNvSpPr>
          <p:nvPr>
            <p:ph type="title"/>
          </p:nvPr>
        </p:nvSpPr>
        <p:spPr>
          <a:xfrm>
            <a:off x="68249" y="-194450"/>
            <a:ext cx="11106300" cy="1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Configuración del Entorno</a:t>
            </a:r>
            <a:endParaRPr dirty="0"/>
          </a:p>
        </p:txBody>
      </p:sp>
      <p:sp>
        <p:nvSpPr>
          <p:cNvPr id="20" name="Rectángulo 19"/>
          <p:cNvSpPr/>
          <p:nvPr/>
        </p:nvSpPr>
        <p:spPr>
          <a:xfrm>
            <a:off x="7106285" y="2811450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Conectividad de Red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2314330" y="2811450"/>
            <a:ext cx="36215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Dispositivo con Sistema Operativo </a:t>
            </a:r>
          </a:p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Grupo 17"/>
          <p:cNvGrpSpPr/>
          <p:nvPr/>
        </p:nvGrpSpPr>
        <p:grpSpPr>
          <a:xfrm>
            <a:off x="6913796" y="1143664"/>
            <a:ext cx="2784788" cy="1483585"/>
            <a:chOff x="5709545" y="1317078"/>
            <a:chExt cx="2784788" cy="1483585"/>
          </a:xfrm>
        </p:grpSpPr>
        <p:pic>
          <p:nvPicPr>
            <p:cNvPr id="15" name="Imagen 1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709545" y="1317078"/>
              <a:ext cx="1504599" cy="1483585"/>
            </a:xfrm>
            <a:prstGeom prst="rect">
              <a:avLst/>
            </a:prstGeom>
          </p:spPr>
        </p:pic>
        <p:pic>
          <p:nvPicPr>
            <p:cNvPr id="17" name="Imagen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278817" y="1434805"/>
              <a:ext cx="1215516" cy="1318030"/>
            </a:xfrm>
            <a:prstGeom prst="rect">
              <a:avLst/>
            </a:prstGeom>
          </p:spPr>
        </p:pic>
      </p:grpSp>
      <p:sp>
        <p:nvSpPr>
          <p:cNvPr id="26" name="Rectángulo 25"/>
          <p:cNvSpPr/>
          <p:nvPr/>
        </p:nvSpPr>
        <p:spPr>
          <a:xfrm>
            <a:off x="7106285" y="5144157"/>
            <a:ext cx="23391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Estación de Auditoría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ángulo 26"/>
          <p:cNvSpPr/>
          <p:nvPr/>
        </p:nvSpPr>
        <p:spPr>
          <a:xfrm>
            <a:off x="2611078" y="5076033"/>
            <a:ext cx="29931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Memoria y Almacenamiento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Google Shape;109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532380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_demostración_tesis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7109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715051" y="0"/>
            <a:ext cx="3086100" cy="6858000"/>
          </a:xfrm>
          <a:prstGeom prst="rect">
            <a:avLst/>
          </a:prstGeom>
        </p:spPr>
      </p:pic>
      <p:pic>
        <p:nvPicPr>
          <p:cNvPr id="22" name="Google Shape;109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793057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352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>
            <a:spLocks noGrp="1"/>
          </p:cNvSpPr>
          <p:nvPr>
            <p:ph type="title"/>
          </p:nvPr>
        </p:nvSpPr>
        <p:spPr>
          <a:xfrm>
            <a:off x="970574" y="-242474"/>
            <a:ext cx="11106300" cy="1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Demostración y Evaluación</a:t>
            </a:r>
            <a:endParaRPr dirty="0"/>
          </a:p>
        </p:txBody>
      </p:sp>
      <p:sp>
        <p:nvSpPr>
          <p:cNvPr id="319" name="Google Shape;319;p19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  <a:endParaRPr lang="es-EC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2000" b="1" u="sng" dirty="0" err="1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Demostración</a:t>
            </a:r>
            <a:r>
              <a:rPr lang="en-US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2000" b="1" u="sng" dirty="0" err="1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Evaluación</a:t>
            </a:r>
            <a:endParaRPr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 smtClean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08" y="4105154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>
            <a:extLst>
              <a:ext uri="{FF2B5EF4-FFF2-40B4-BE49-F238E27FC236}">
                <a16:creationId xmlns="" xmlns:a16="http://schemas.microsoft.com/office/drawing/2014/main" id="{DF8D7028-7FC4-164E-4D88-70BFF03B13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2" name="AutoShape 2">
            <a:extLst>
              <a:ext uri="{FF2B5EF4-FFF2-40B4-BE49-F238E27FC236}">
                <a16:creationId xmlns="" xmlns:a16="http://schemas.microsoft.com/office/drawing/2014/main" id="{8C891F6A-0A49-7590-07DF-F00DC3F4E8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12" name="Google Shape;82;p14" descr="Imagen que contiene alimento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Imagen 1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" t="24000" r="5733" b="9511"/>
          <a:stretch/>
        </p:blipFill>
        <p:spPr>
          <a:xfrm>
            <a:off x="3044125" y="898726"/>
            <a:ext cx="5239114" cy="2819322"/>
          </a:xfrm>
          <a:prstGeom prst="rect">
            <a:avLst/>
          </a:prstGeom>
        </p:spPr>
      </p:pic>
      <p:sp>
        <p:nvSpPr>
          <p:cNvPr id="14" name="Rectángulo 13"/>
          <p:cNvSpPr/>
          <p:nvPr/>
        </p:nvSpPr>
        <p:spPr>
          <a:xfrm>
            <a:off x="4485309" y="3685782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Sujetos de Prueba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4503922" y="5683547"/>
            <a:ext cx="2525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de la Prueba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22" b="27746"/>
          <a:stretch/>
        </p:blipFill>
        <p:spPr>
          <a:xfrm>
            <a:off x="3077395" y="4283328"/>
            <a:ext cx="5732409" cy="1419808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565" y="2188237"/>
            <a:ext cx="1948689" cy="1916917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8728464" y="4142892"/>
            <a:ext cx="35189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Cumplimiento de Requerimientos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Google Shape;11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8710906" flipH="1">
            <a:off x="8108461" y="3103077"/>
            <a:ext cx="1317591" cy="1165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109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274954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 txBox="1">
            <a:spLocks noGrp="1"/>
          </p:cNvSpPr>
          <p:nvPr>
            <p:ph type="title"/>
          </p:nvPr>
        </p:nvSpPr>
        <p:spPr>
          <a:xfrm>
            <a:off x="970574" y="-242474"/>
            <a:ext cx="11106300" cy="11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Instrumentos de Recolección de Datos</a:t>
            </a:r>
            <a:endParaRPr dirty="0"/>
          </a:p>
        </p:txBody>
      </p:sp>
      <p:sp>
        <p:nvSpPr>
          <p:cNvPr id="319" name="Google Shape;319;p19"/>
          <p:cNvSpPr txBox="1"/>
          <p:nvPr/>
        </p:nvSpPr>
        <p:spPr>
          <a:xfrm>
            <a:off x="0" y="604943"/>
            <a:ext cx="25989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  <a:endParaRPr lang="es-EC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n-US" sz="2000" b="1" u="sng" dirty="0" err="1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Demostración</a:t>
            </a:r>
            <a:r>
              <a:rPr lang="en-US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 </a:t>
            </a:r>
            <a:r>
              <a:rPr lang="en-US" sz="2000" b="1" u="sng" dirty="0" err="1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Evaluación</a:t>
            </a:r>
            <a:endParaRPr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 smtClean="0">
                <a:latin typeface="Times New Roman"/>
                <a:cs typeface="Times New Roman"/>
                <a:sym typeface="Times New Roman"/>
              </a:rPr>
              <a:t>Resultados</a:t>
            </a:r>
            <a:endParaRPr lang="es-MX" dirty="0"/>
          </a:p>
          <a:p>
            <a:pPr lvl="0"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08" y="4105154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AutoShape 2">
            <a:extLst>
              <a:ext uri="{FF2B5EF4-FFF2-40B4-BE49-F238E27FC236}">
                <a16:creationId xmlns="" xmlns:a16="http://schemas.microsoft.com/office/drawing/2014/main" id="{DF8D7028-7FC4-164E-4D88-70BFF03B13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sp>
        <p:nvSpPr>
          <p:cNvPr id="2" name="AutoShape 2">
            <a:extLst>
              <a:ext uri="{FF2B5EF4-FFF2-40B4-BE49-F238E27FC236}">
                <a16:creationId xmlns="" xmlns:a16="http://schemas.microsoft.com/office/drawing/2014/main" id="{8C891F6A-0A49-7590-07DF-F00DC3F4E8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C"/>
          </a:p>
        </p:txBody>
      </p:sp>
      <p:pic>
        <p:nvPicPr>
          <p:cNvPr id="12" name="Google Shape;82;p14" descr="Imagen que contiene alimentos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ángulo 13"/>
          <p:cNvSpPr/>
          <p:nvPr/>
        </p:nvSpPr>
        <p:spPr>
          <a:xfrm>
            <a:off x="6248400" y="2170116"/>
            <a:ext cx="2050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Formulario Digital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2948284" y="5014198"/>
            <a:ext cx="22365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Escala de Usabilidad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6086542" y="5008143"/>
            <a:ext cx="2525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Aceptación Tecnológica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4735" y="875398"/>
            <a:ext cx="1301931" cy="1294718"/>
          </a:xfrm>
          <a:prstGeom prst="rect">
            <a:avLst/>
          </a:prstGeom>
        </p:spPr>
      </p:pic>
      <p:pic>
        <p:nvPicPr>
          <p:cNvPr id="7170" name="Picture 2" descr="Download Google Forms Logo - Google Forms Logo Png PNG Image with No  Background - PNGkey.com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973" y="1280564"/>
            <a:ext cx="2192800" cy="675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0014" y="3462798"/>
            <a:ext cx="1371618" cy="136018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3034" y="4246625"/>
            <a:ext cx="529721" cy="53119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129" y="3239201"/>
            <a:ext cx="1627775" cy="1618831"/>
          </a:xfrm>
          <a:prstGeom prst="rect">
            <a:avLst/>
          </a:prstGeom>
        </p:spPr>
      </p:pic>
      <p:sp>
        <p:nvSpPr>
          <p:cNvPr id="22" name="Rectángulo 21"/>
          <p:cNvSpPr/>
          <p:nvPr/>
        </p:nvSpPr>
        <p:spPr>
          <a:xfrm>
            <a:off x="3552618" y="5284650"/>
            <a:ext cx="102784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Métrica SUS</a:t>
            </a:r>
            <a:endParaRPr lang="es-EC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9608592" y="5099984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Retroalimentación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33658" y="3344109"/>
            <a:ext cx="1539192" cy="1522090"/>
          </a:xfrm>
          <a:prstGeom prst="rect">
            <a:avLst/>
          </a:prstGeom>
        </p:spPr>
      </p:pic>
      <p:pic>
        <p:nvPicPr>
          <p:cNvPr id="25" name="Google Shape;115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8247250">
            <a:off x="4495638" y="2432494"/>
            <a:ext cx="1268435" cy="65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15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2960025">
            <a:off x="9396784" y="2401222"/>
            <a:ext cx="1268435" cy="65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15;p1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5400000">
            <a:off x="7054209" y="2547316"/>
            <a:ext cx="599890" cy="650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09;p1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Rectángulo 29"/>
          <p:cNvSpPr/>
          <p:nvPr/>
        </p:nvSpPr>
        <p:spPr>
          <a:xfrm>
            <a:off x="6784690" y="5284650"/>
            <a:ext cx="110639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Métrica TAM</a:t>
            </a:r>
            <a:endParaRPr lang="es-EC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049190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8" y="2756850"/>
            <a:ext cx="6066244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 smtClean="0">
                <a:solidFill>
                  <a:schemeClr val="dk1"/>
                </a:solidFill>
              </a:rPr>
              <a:t>Resultados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2101062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4"/>
          <p:cNvSpPr txBox="1">
            <a:spLocks noGrp="1"/>
          </p:cNvSpPr>
          <p:nvPr>
            <p:ph type="title"/>
          </p:nvPr>
        </p:nvSpPr>
        <p:spPr>
          <a:xfrm>
            <a:off x="4169499" y="-169975"/>
            <a:ext cx="74871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Resultados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42" name="Google Shape;842;p44"/>
          <p:cNvSpPr txBox="1"/>
          <p:nvPr/>
        </p:nvSpPr>
        <p:spPr>
          <a:xfrm>
            <a:off x="0" y="604950"/>
            <a:ext cx="27552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Demostración y Evaluación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lang="es-EC" sz="2000" b="1" u="sng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R="0" lvl="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3" y="4333461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077" y="723698"/>
            <a:ext cx="6027088" cy="3064621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6457" y="3715413"/>
            <a:ext cx="1452789" cy="1248291"/>
          </a:xfrm>
          <a:prstGeom prst="rect">
            <a:avLst/>
          </a:prstGeom>
        </p:spPr>
      </p:pic>
      <p:sp>
        <p:nvSpPr>
          <p:cNvPr id="14" name="Rectángulo 13"/>
          <p:cNvSpPr/>
          <p:nvPr/>
        </p:nvSpPr>
        <p:spPr>
          <a:xfrm>
            <a:off x="3926042" y="4909502"/>
            <a:ext cx="19736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Ergonomía Visual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6427" y="3986713"/>
            <a:ext cx="794891" cy="790499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6463179" y="4934071"/>
            <a:ext cx="2281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Rendimiento Técnico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8499" y="3882205"/>
            <a:ext cx="1041016" cy="1052615"/>
          </a:xfrm>
          <a:prstGeom prst="rect">
            <a:avLst/>
          </a:prstGeom>
        </p:spPr>
      </p:pic>
      <p:sp>
        <p:nvSpPr>
          <p:cNvPr id="18" name="Rectángulo 17"/>
          <p:cNvSpPr/>
          <p:nvPr/>
        </p:nvSpPr>
        <p:spPr>
          <a:xfrm>
            <a:off x="9461812" y="4945346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Estabilidad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ángulo 20"/>
          <p:cNvSpPr/>
          <p:nvPr/>
        </p:nvSpPr>
        <p:spPr>
          <a:xfrm>
            <a:off x="4156361" y="5469346"/>
            <a:ext cx="14542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Fácil de usar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ángulo 21"/>
          <p:cNvSpPr/>
          <p:nvPr/>
        </p:nvSpPr>
        <p:spPr>
          <a:xfrm>
            <a:off x="6729507" y="5469532"/>
            <a:ext cx="17748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Fluida y Rápida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ángulo 22"/>
          <p:cNvSpPr/>
          <p:nvPr/>
        </p:nvSpPr>
        <p:spPr>
          <a:xfrm>
            <a:off x="9574026" y="5469346"/>
            <a:ext cx="1088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 fallas</a:t>
            </a:r>
            <a:endParaRPr lang="es-EC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Google Shape;11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4737110" y="5238512"/>
            <a:ext cx="292745" cy="271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1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7470558" y="5233502"/>
            <a:ext cx="292745" cy="271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15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9972029" y="5256434"/>
            <a:ext cx="292745" cy="271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82;p14" descr="Imagen que contiene alimentos&#10;&#10;Descripción generada automáticament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09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4"/>
          <p:cNvSpPr txBox="1">
            <a:spLocks noGrp="1"/>
          </p:cNvSpPr>
          <p:nvPr>
            <p:ph type="title"/>
          </p:nvPr>
        </p:nvSpPr>
        <p:spPr>
          <a:xfrm>
            <a:off x="4169499" y="-169975"/>
            <a:ext cx="74871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Discusión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42" name="Google Shape;842;p44"/>
          <p:cNvSpPr txBox="1"/>
          <p:nvPr/>
        </p:nvSpPr>
        <p:spPr>
          <a:xfrm>
            <a:off x="0" y="604950"/>
            <a:ext cx="27552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Demostración y Evaluación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lang="es-EC" sz="2000" b="1" u="sng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R="0" lvl="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3" y="4333461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ctángulo 13"/>
          <p:cNvSpPr/>
          <p:nvPr/>
        </p:nvSpPr>
        <p:spPr>
          <a:xfrm>
            <a:off x="8037952" y="3131503"/>
            <a:ext cx="29594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Identificación de Brechas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2483262" y="4899959"/>
            <a:ext cx="450722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Cumplimiento de Objetivos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ángulo 17"/>
          <p:cNvSpPr/>
          <p:nvPr/>
        </p:nvSpPr>
        <p:spPr>
          <a:xfrm>
            <a:off x="9729210" y="5100014"/>
            <a:ext cx="159370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Proactividad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930" y="1694626"/>
            <a:ext cx="2611573" cy="310448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2584" y="1201689"/>
            <a:ext cx="2290203" cy="179536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8285" y="4004614"/>
            <a:ext cx="868338" cy="100962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2885" y="4052264"/>
            <a:ext cx="926355" cy="918741"/>
          </a:xfrm>
          <a:prstGeom prst="rect">
            <a:avLst/>
          </a:prstGeom>
        </p:spPr>
      </p:pic>
      <p:sp>
        <p:nvSpPr>
          <p:cNvPr id="27" name="Rectángulo 26"/>
          <p:cNvSpPr/>
          <p:nvPr/>
        </p:nvSpPr>
        <p:spPr>
          <a:xfrm>
            <a:off x="7472023" y="5100014"/>
            <a:ext cx="20008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Carga Cognitiva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Google Shape;11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762138">
            <a:off x="6789885" y="3231551"/>
            <a:ext cx="1932844" cy="1165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13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762138" flipV="1">
            <a:off x="10286762" y="3094118"/>
            <a:ext cx="1932844" cy="1434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82;p14" descr="Imagen que contiene alimentos&#10;&#10;Descripción generada automáticament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109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9765134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4"/>
          <p:cNvSpPr txBox="1">
            <a:spLocks noGrp="1"/>
          </p:cNvSpPr>
          <p:nvPr>
            <p:ph type="title"/>
          </p:nvPr>
        </p:nvSpPr>
        <p:spPr>
          <a:xfrm>
            <a:off x="4169499" y="-169975"/>
            <a:ext cx="7487100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Discusión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42" name="Google Shape;842;p44"/>
          <p:cNvSpPr txBox="1"/>
          <p:nvPr/>
        </p:nvSpPr>
        <p:spPr>
          <a:xfrm>
            <a:off x="0" y="604950"/>
            <a:ext cx="27552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/>
                <a:ea typeface="Times New Roman"/>
                <a:cs typeface="Times New Roman"/>
                <a:sym typeface="Times New Roman"/>
              </a:rPr>
              <a:t>Introducción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Demostración y Evaluación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Resultados</a:t>
            </a:r>
            <a:endParaRPr lang="es-EC" sz="2000" b="1" u="sng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ct val="200000"/>
              </a:lnSpc>
              <a:spcBef>
                <a:spcPts val="280"/>
              </a:spcBef>
            </a:pPr>
            <a:r>
              <a:rPr lang="es-MX" dirty="0"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</a:t>
            </a:r>
            <a:endParaRPr lang="es-MX" dirty="0"/>
          </a:p>
          <a:p>
            <a:pPr marR="0" lvl="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3" y="4333461"/>
            <a:ext cx="358815" cy="35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2" descr="Futbol Femenino Vectores, Iconos, Gráficos y Fondos para Descargar Grati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6" t="27969" r="33747" b="31052"/>
          <a:stretch/>
        </p:blipFill>
        <p:spPr bwMode="auto">
          <a:xfrm>
            <a:off x="3841715" y="838325"/>
            <a:ext cx="1604699" cy="209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21 mil vectores de stock y arte vectorial de Arquero de futbol |  Shutterstock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0" t="19502" r="15838" b="25452"/>
          <a:stretch/>
        </p:blipFill>
        <p:spPr bwMode="auto">
          <a:xfrm>
            <a:off x="8445408" y="1142125"/>
            <a:ext cx="2038877" cy="1740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 13"/>
          <p:cNvSpPr/>
          <p:nvPr/>
        </p:nvSpPr>
        <p:spPr>
          <a:xfrm>
            <a:off x="2919074" y="2936777"/>
            <a:ext cx="34499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Inclusión del Fútbol femenino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ángulo 14"/>
          <p:cNvSpPr/>
          <p:nvPr/>
        </p:nvSpPr>
        <p:spPr>
          <a:xfrm>
            <a:off x="7827705" y="2929938"/>
            <a:ext cx="32928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Personalización de métricas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ángulo 15"/>
          <p:cNvSpPr/>
          <p:nvPr/>
        </p:nvSpPr>
        <p:spPr>
          <a:xfrm>
            <a:off x="5971149" y="5221606"/>
            <a:ext cx="24256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Sugerencias directas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4527" y="3551577"/>
            <a:ext cx="1608446" cy="1563767"/>
          </a:xfrm>
          <a:prstGeom prst="rect">
            <a:avLst/>
          </a:prstGeom>
        </p:spPr>
      </p:pic>
      <p:pic>
        <p:nvPicPr>
          <p:cNvPr id="8194" name="Picture 2" descr="Facebook - Wikipedia, la enciclopedia libr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0885" y="4013225"/>
            <a:ext cx="996820" cy="99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Icono Vectorial De Descarga De Pdf PNG ,dibujos Descargar Pdf, Icono De Pdf,  Documento Pdf PNG y Vector para Descargar Gratis | Pngtree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7705" y="3723921"/>
            <a:ext cx="1573182" cy="157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Google Shape;82;p14" descr="Imagen que contiene alimentos&#10;&#10;Descripción generada automáticament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109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641404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8" y="2756850"/>
            <a:ext cx="6066244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 smtClean="0">
                <a:solidFill>
                  <a:schemeClr val="dk1"/>
                </a:solidFill>
              </a:rPr>
              <a:t>Conclusiones y Trabajos Futuros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7479195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4"/>
          <p:cNvSpPr txBox="1">
            <a:spLocks noGrp="1"/>
          </p:cNvSpPr>
          <p:nvPr>
            <p:ph type="title"/>
          </p:nvPr>
        </p:nvSpPr>
        <p:spPr>
          <a:xfrm>
            <a:off x="3483980" y="-169975"/>
            <a:ext cx="8172619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Conclusiones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42" name="Google Shape;842;p44"/>
          <p:cNvSpPr txBox="1"/>
          <p:nvPr/>
        </p:nvSpPr>
        <p:spPr>
          <a:xfrm>
            <a:off x="0" y="604950"/>
            <a:ext cx="27552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Antecedentes</a:t>
            </a:r>
            <a:endParaRPr lang="es-EC" sz="2000" b="1" u="sng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Problemática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  <a:endParaRPr lang="es-EC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Demostración y Evaluación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24" y="5053055"/>
            <a:ext cx="358815" cy="3563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Grupo 7"/>
          <p:cNvGrpSpPr/>
          <p:nvPr/>
        </p:nvGrpSpPr>
        <p:grpSpPr>
          <a:xfrm>
            <a:off x="3828746" y="799081"/>
            <a:ext cx="4936867" cy="2239915"/>
            <a:chOff x="3483980" y="1292425"/>
            <a:chExt cx="3932849" cy="1784380"/>
          </a:xfrm>
        </p:grpSpPr>
        <p:grpSp>
          <p:nvGrpSpPr>
            <p:cNvPr id="2" name="Grupo 1"/>
            <p:cNvGrpSpPr/>
            <p:nvPr/>
          </p:nvGrpSpPr>
          <p:grpSpPr>
            <a:xfrm>
              <a:off x="3483980" y="1292425"/>
              <a:ext cx="3756213" cy="1784380"/>
              <a:chOff x="3070472" y="1571711"/>
              <a:chExt cx="8573729" cy="4072930"/>
            </a:xfrm>
          </p:grpSpPr>
          <p:pic>
            <p:nvPicPr>
              <p:cNvPr id="18" name="Imagen 17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70472" y="1571711"/>
                <a:ext cx="7240765" cy="4072930"/>
              </a:xfrm>
              <a:prstGeom prst="rect">
                <a:avLst/>
              </a:prstGeom>
            </p:spPr>
          </p:pic>
          <p:pic>
            <p:nvPicPr>
              <p:cNvPr id="19" name="Imagen 1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54542" y="2912687"/>
                <a:ext cx="1289659" cy="1275169"/>
              </a:xfrm>
              <a:prstGeom prst="rect">
                <a:avLst/>
              </a:prstGeom>
            </p:spPr>
          </p:pic>
        </p:grpSp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933539" y="1442970"/>
              <a:ext cx="1483290" cy="1483290"/>
            </a:xfrm>
            <a:prstGeom prst="rect">
              <a:avLst/>
            </a:prstGeom>
          </p:spPr>
        </p:pic>
      </p:grpSp>
      <p:grpSp>
        <p:nvGrpSpPr>
          <p:cNvPr id="20" name="Grupo 19"/>
          <p:cNvGrpSpPr/>
          <p:nvPr/>
        </p:nvGrpSpPr>
        <p:grpSpPr>
          <a:xfrm>
            <a:off x="9150381" y="2408842"/>
            <a:ext cx="2953168" cy="2070441"/>
            <a:chOff x="9036925" y="917731"/>
            <a:chExt cx="2953168" cy="2070441"/>
          </a:xfrm>
        </p:grpSpPr>
        <p:grpSp>
          <p:nvGrpSpPr>
            <p:cNvPr id="24" name="Grupo 23"/>
            <p:cNvGrpSpPr/>
            <p:nvPr/>
          </p:nvGrpSpPr>
          <p:grpSpPr>
            <a:xfrm>
              <a:off x="9036925" y="917731"/>
              <a:ext cx="2520106" cy="2070441"/>
              <a:chOff x="8094611" y="1344152"/>
              <a:chExt cx="2520106" cy="2070441"/>
            </a:xfrm>
          </p:grpSpPr>
          <p:pic>
            <p:nvPicPr>
              <p:cNvPr id="25" name="Imagen 2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94611" y="1344152"/>
                <a:ext cx="1903417" cy="1903417"/>
              </a:xfrm>
              <a:prstGeom prst="rect">
                <a:avLst/>
              </a:prstGeom>
            </p:spPr>
          </p:pic>
          <p:pic>
            <p:nvPicPr>
              <p:cNvPr id="26" name="Imagen 2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11300" y="1511176"/>
                <a:ext cx="1903417" cy="1903417"/>
              </a:xfrm>
              <a:prstGeom prst="rect">
                <a:avLst/>
              </a:prstGeom>
            </p:spPr>
          </p:pic>
        </p:grpSp>
        <p:pic>
          <p:nvPicPr>
            <p:cNvPr id="28" name="Imagen 2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876576" y="1005349"/>
              <a:ext cx="1113517" cy="1113518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8746" y="3747970"/>
            <a:ext cx="1673505" cy="1801059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1987" y="3625377"/>
            <a:ext cx="1113517" cy="1113518"/>
          </a:xfrm>
          <a:prstGeom prst="rect">
            <a:avLst/>
          </a:prstGeom>
        </p:spPr>
      </p:pic>
      <p:sp>
        <p:nvSpPr>
          <p:cNvPr id="31" name="Rectángulo 30"/>
          <p:cNvSpPr/>
          <p:nvPr/>
        </p:nvSpPr>
        <p:spPr>
          <a:xfrm>
            <a:off x="6231066" y="5542303"/>
            <a:ext cx="278313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Aceptación Tecnológica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n 3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8694" y="3853938"/>
            <a:ext cx="1627775" cy="1618831"/>
          </a:xfrm>
          <a:prstGeom prst="rect">
            <a:avLst/>
          </a:prstGeom>
        </p:spPr>
      </p:pic>
      <p:sp>
        <p:nvSpPr>
          <p:cNvPr id="33" name="Rectángulo 32"/>
          <p:cNvSpPr/>
          <p:nvPr/>
        </p:nvSpPr>
        <p:spPr>
          <a:xfrm>
            <a:off x="9592812" y="4573862"/>
            <a:ext cx="18982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Interfaz óptima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ángulo 33"/>
          <p:cNvSpPr/>
          <p:nvPr/>
        </p:nvSpPr>
        <p:spPr>
          <a:xfrm>
            <a:off x="4071902" y="3043953"/>
            <a:ext cx="36920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MX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culminación del ciclo de </a:t>
            </a:r>
            <a:r>
              <a:rPr lang="es-MX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vida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ángulo 34"/>
          <p:cNvSpPr/>
          <p:nvPr/>
        </p:nvSpPr>
        <p:spPr>
          <a:xfrm>
            <a:off x="3392338" y="5514460"/>
            <a:ext cx="215475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exitoso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Google Shape;82;p14" descr="Imagen que contiene alimentos&#10;&#10;Descripción generada automáticament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109;p15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6848817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4"/>
          <p:cNvSpPr txBox="1">
            <a:spLocks noGrp="1"/>
          </p:cNvSpPr>
          <p:nvPr>
            <p:ph type="title"/>
          </p:nvPr>
        </p:nvSpPr>
        <p:spPr>
          <a:xfrm>
            <a:off x="3483980" y="-169975"/>
            <a:ext cx="8172619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Limitaciones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42" name="Google Shape;842;p44"/>
          <p:cNvSpPr txBox="1"/>
          <p:nvPr/>
        </p:nvSpPr>
        <p:spPr>
          <a:xfrm>
            <a:off x="0" y="604950"/>
            <a:ext cx="27552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Antecedentes</a:t>
            </a:r>
            <a:endParaRPr lang="es-EC" sz="2000" b="1" u="sng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Problemática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  <a:endParaRPr lang="es-EC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Demostración y Evaluación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24" y="5053055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Rectángulo 33"/>
          <p:cNvSpPr/>
          <p:nvPr/>
        </p:nvSpPr>
        <p:spPr>
          <a:xfrm>
            <a:off x="6114733" y="5503567"/>
            <a:ext cx="253306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MX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Sujeto a Subjetividad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ángulo 34"/>
          <p:cNvSpPr/>
          <p:nvPr/>
        </p:nvSpPr>
        <p:spPr>
          <a:xfrm>
            <a:off x="3109114" y="2736491"/>
            <a:ext cx="33527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Plataforma y Distribución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3458546" y="1083222"/>
            <a:ext cx="2981268" cy="1798237"/>
            <a:chOff x="3116162" y="1637484"/>
            <a:chExt cx="2707119" cy="1632876"/>
          </a:xfrm>
        </p:grpSpPr>
        <p:pic>
          <p:nvPicPr>
            <p:cNvPr id="14340" name="Picture 4" descr="Archivo:App Store (iOS).svg - Wikipedia, la enciclopedia libr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27179" y="1921016"/>
              <a:ext cx="1159327" cy="11593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" name="Grupo 3"/>
            <p:cNvGrpSpPr/>
            <p:nvPr/>
          </p:nvGrpSpPr>
          <p:grpSpPr>
            <a:xfrm>
              <a:off x="3116162" y="1637484"/>
              <a:ext cx="2707119" cy="1632876"/>
              <a:chOff x="3483980" y="3881584"/>
              <a:chExt cx="2707119" cy="1632876"/>
            </a:xfrm>
          </p:grpSpPr>
          <p:pic>
            <p:nvPicPr>
              <p:cNvPr id="14342" name="Picture 6" descr="EZ APK App Installer: descarga e instalación gratuitas en Windows |  Microsoft Store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83980" y="4189668"/>
                <a:ext cx="1110225" cy="11102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344" name="Picture 8" descr="Prohibido PNG para descargar gratis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8223" y="3881584"/>
                <a:ext cx="1632876" cy="163287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7" name="Imagen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5004" y="981758"/>
            <a:ext cx="2295032" cy="1870950"/>
          </a:xfrm>
          <a:prstGeom prst="rect">
            <a:avLst/>
          </a:prstGeom>
        </p:spPr>
      </p:pic>
      <p:sp>
        <p:nvSpPr>
          <p:cNvPr id="36" name="Rectángulo 35"/>
          <p:cNvSpPr/>
          <p:nvPr/>
        </p:nvSpPr>
        <p:spPr>
          <a:xfrm>
            <a:off x="8206154" y="2766307"/>
            <a:ext cx="33527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Muestra Homogénea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1845" y="3537276"/>
            <a:ext cx="1838843" cy="1838843"/>
          </a:xfrm>
          <a:prstGeom prst="rect">
            <a:avLst/>
          </a:prstGeom>
        </p:spPr>
      </p:pic>
      <p:pic>
        <p:nvPicPr>
          <p:cNvPr id="37" name="Google Shape;82;p14" descr="Imagen que contiene alimentos&#10;&#10;Descripción generada automáticamente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109;p15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6499481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4"/>
          <p:cNvSpPr txBox="1">
            <a:spLocks noGrp="1"/>
          </p:cNvSpPr>
          <p:nvPr>
            <p:ph type="title"/>
          </p:nvPr>
        </p:nvSpPr>
        <p:spPr>
          <a:xfrm>
            <a:off x="3483980" y="-169975"/>
            <a:ext cx="8172619" cy="10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dirty="0" smtClean="0">
                <a:solidFill>
                  <a:schemeClr val="dk1"/>
                </a:solidFill>
              </a:rPr>
              <a:t>Trabajos Futuros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42" name="Google Shape;842;p44"/>
          <p:cNvSpPr txBox="1"/>
          <p:nvPr/>
        </p:nvSpPr>
        <p:spPr>
          <a:xfrm>
            <a:off x="0" y="604950"/>
            <a:ext cx="2755200" cy="5619300"/>
          </a:xfrm>
          <a:prstGeom prst="rect">
            <a:avLst/>
          </a:prstGeom>
          <a:gradFill>
            <a:gsLst>
              <a:gs pos="0">
                <a:srgbClr val="FFFFFF"/>
              </a:gs>
              <a:gs pos="14000">
                <a:srgbClr val="FFFFFF"/>
              </a:gs>
              <a:gs pos="100000">
                <a:srgbClr val="B3D5AB"/>
              </a:gs>
            </a:gsLst>
            <a:lin ang="5400012" scaled="0"/>
          </a:gra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1D212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endParaRPr dirty="0">
              <a:solidFill>
                <a:srgbClr val="FF0066"/>
              </a:solidFill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Antecedentes</a:t>
            </a:r>
            <a:endParaRPr lang="es-EC" sz="2000" b="1" u="sng" dirty="0">
              <a:solidFill>
                <a:srgbClr val="00703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Problemática</a:t>
            </a:r>
            <a:endParaRPr lang="es-EC" dirty="0"/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/>
                <a:ea typeface="Times New Roman"/>
                <a:cs typeface="Times New Roman"/>
                <a:sym typeface="Times New Roman"/>
              </a:rPr>
              <a:t>Objetivos 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Metodología</a:t>
            </a: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Desarrollo </a:t>
            </a:r>
            <a:endParaRPr lang="es-EC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Pruebas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Demostración y Evaluación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200000"/>
              </a:lnSpc>
              <a:spcBef>
                <a:spcPts val="280"/>
              </a:spcBef>
            </a:pPr>
            <a:r>
              <a:rPr lang="es-EC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lang="es-EC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457200" algn="l" rtl="0">
              <a:lnSpc>
                <a:spcPct val="200000"/>
              </a:lnSpc>
              <a:spcBef>
                <a:spcPts val="280"/>
              </a:spcBef>
              <a:spcAft>
                <a:spcPts val="0"/>
              </a:spcAft>
              <a:buNone/>
            </a:pPr>
            <a:r>
              <a:rPr lang="es-EC" sz="2000" b="1" u="sng" dirty="0" smtClean="0">
                <a:solidFill>
                  <a:srgbClr val="00703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Conclusiones y Trabajos Futuros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4" name="Google Shape;8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124" y="5053055"/>
            <a:ext cx="358815" cy="3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Rectángulo 33"/>
          <p:cNvSpPr/>
          <p:nvPr/>
        </p:nvSpPr>
        <p:spPr>
          <a:xfrm>
            <a:off x="2755200" y="5642284"/>
            <a:ext cx="309411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MX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Especialización adaptativa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ángulo 34"/>
          <p:cNvSpPr/>
          <p:nvPr/>
        </p:nvSpPr>
        <p:spPr>
          <a:xfrm>
            <a:off x="3109114" y="2736491"/>
            <a:ext cx="33527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ML e IA Preventiva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ángulo 35"/>
          <p:cNvSpPr/>
          <p:nvPr/>
        </p:nvSpPr>
        <p:spPr>
          <a:xfrm>
            <a:off x="8206154" y="2766307"/>
            <a:ext cx="33527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Inclusión Fútbol Femenino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346" y="838325"/>
            <a:ext cx="1851756" cy="1826732"/>
          </a:xfrm>
          <a:prstGeom prst="rect">
            <a:avLst/>
          </a:prstGeom>
        </p:spPr>
      </p:pic>
      <p:pic>
        <p:nvPicPr>
          <p:cNvPr id="19" name="Picture 2" descr="Futbol Femenino Vectores, Iconos, Gráficos y Fondos para Descargar Grati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6" t="27969" r="33747" b="31052"/>
          <a:stretch/>
        </p:blipFill>
        <p:spPr bwMode="auto">
          <a:xfrm>
            <a:off x="9210884" y="702465"/>
            <a:ext cx="1604699" cy="209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3913" y="3414600"/>
            <a:ext cx="1789201" cy="209112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126" y="3573442"/>
            <a:ext cx="1308515" cy="1495446"/>
          </a:xfrm>
          <a:prstGeom prst="rect">
            <a:avLst/>
          </a:prstGeom>
        </p:spPr>
      </p:pic>
      <p:sp>
        <p:nvSpPr>
          <p:cNvPr id="22" name="Rectángulo 21"/>
          <p:cNvSpPr/>
          <p:nvPr/>
        </p:nvSpPr>
        <p:spPr>
          <a:xfrm>
            <a:off x="6332881" y="5467591"/>
            <a:ext cx="22204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s-MX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Acoplamiento con </a:t>
            </a:r>
          </a:p>
          <a:p>
            <a:pPr lvl="0" algn="ctr"/>
            <a:r>
              <a:rPr lang="es-MX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otras disciplinas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5674" y="4084784"/>
            <a:ext cx="1306016" cy="1324620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3201" y="3737286"/>
            <a:ext cx="1921942" cy="1664969"/>
          </a:xfrm>
          <a:prstGeom prst="rect">
            <a:avLst/>
          </a:prstGeom>
        </p:spPr>
      </p:pic>
      <p:sp>
        <p:nvSpPr>
          <p:cNvPr id="25" name="Rectángulo 24"/>
          <p:cNvSpPr/>
          <p:nvPr/>
        </p:nvSpPr>
        <p:spPr>
          <a:xfrm>
            <a:off x="8849697" y="5453051"/>
            <a:ext cx="335273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s-EC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Mejora Continua</a:t>
            </a:r>
            <a:endParaRPr lang="es-EC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Google Shape;82;p14" descr="Imagen que contiene alimentos&#10;&#10;Descripción generada automáticament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09;p15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613158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3" name="Google Shape;873;p46" descr="Imagen que contiene alimentos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39" y="68627"/>
            <a:ext cx="1344150" cy="134415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46"/>
          <p:cNvSpPr txBox="1">
            <a:spLocks noGrp="1"/>
          </p:cNvSpPr>
          <p:nvPr>
            <p:ph type="title"/>
          </p:nvPr>
        </p:nvSpPr>
        <p:spPr>
          <a:xfrm>
            <a:off x="3062878" y="2756850"/>
            <a:ext cx="6066244" cy="13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s-EC" sz="8000" dirty="0">
                <a:solidFill>
                  <a:schemeClr val="dk1"/>
                </a:solidFill>
              </a:rPr>
              <a:t>Gracias por su atención</a:t>
            </a:r>
            <a:endParaRPr sz="8000" dirty="0">
              <a:solidFill>
                <a:schemeClr val="dk1"/>
              </a:solidFill>
            </a:endParaRPr>
          </a:p>
        </p:txBody>
      </p:sp>
      <p:pic>
        <p:nvPicPr>
          <p:cNvPr id="5" name="Google Shape;1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99494" y="5966150"/>
            <a:ext cx="3121119" cy="807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242509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3"/>
          <p:cNvPicPr preferRelativeResize="0"/>
          <p:nvPr/>
        </p:nvPicPr>
        <p:blipFill rotWithShape="1">
          <a:blip r:embed="rId3">
            <a:alphaModFix/>
          </a:blip>
          <a:srcRect t="2657"/>
          <a:stretch/>
        </p:blipFill>
        <p:spPr>
          <a:xfrm>
            <a:off x="143339" y="0"/>
            <a:ext cx="4224470" cy="100348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1487488" y="979176"/>
            <a:ext cx="10177200" cy="15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C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UNIVERSIDAD DE LAS FUERZAS ARMADAS – ESPE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C" sz="19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EC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DEPARTAMENTO DE CIENCIAS DE LA COMPUTACIÓN </a:t>
            </a: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s-EC" sz="19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Carrera de Software</a:t>
            </a:r>
            <a:endParaRPr sz="1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C" sz="16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Modalidad Presencial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1487488" y="2518476"/>
            <a:ext cx="10177200" cy="3016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C" sz="15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Tema:</a:t>
            </a:r>
            <a:endParaRPr sz="1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SzPts val="1900"/>
            </a:pPr>
            <a:r>
              <a:rPr lang="es-EC" sz="19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s-EC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s-EC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s-MX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Diseño y desarrollo de un prototipo de aplicación móvil para el análisis del rendimiento individual en futbolistas </a:t>
            </a:r>
            <a:r>
              <a:rPr lang="es-MX" sz="16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amateur”</a:t>
            </a:r>
            <a:endParaRPr lang="es-MX" sz="16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Autores:</a:t>
            </a:r>
            <a:endParaRPr lang="es-EC" sz="15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1500"/>
            </a:pPr>
            <a:r>
              <a:rPr lang="es-EC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MERINO CALDERÓN EDNAN JOSUÉ</a:t>
            </a:r>
          </a:p>
          <a:p>
            <a:pPr lvl="0" algn="ctr">
              <a:buSzPts val="1500"/>
            </a:pPr>
            <a:r>
              <a:rPr lang="es-EC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ANDRADE ENCALADA LUIS ALEJANDRO</a:t>
            </a:r>
            <a:r>
              <a:rPr lang="es-EC" sz="1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s-EC" sz="1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C" sz="15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s-EC" sz="15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SzPts val="1500"/>
            </a:pP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Tutor:</a:t>
            </a:r>
            <a:b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EC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ING. CUDCO POMAGUALLI ÁNGEL </a:t>
            </a:r>
            <a:r>
              <a:rPr lang="pt-BR" sz="16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GEOVANNY MsC</a:t>
            </a:r>
            <a:endParaRPr lang="pt-BR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lang="pt-BR" sz="1500" b="1" i="0" u="none" strike="noStrike" cap="none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SANGOLQUÍ</a:t>
            </a:r>
            <a:r>
              <a:rPr lang="es-EC" sz="15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s-EC" sz="1500" b="1" i="0" u="none" strike="noStrike" cap="none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AGOSTO 2026</a:t>
            </a:r>
            <a:endParaRPr sz="15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44291646"/>
      </p:ext>
    </p:extLst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Concurrencia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16416</TotalTime>
  <Words>826</Words>
  <Application>Microsoft Office PowerPoint</Application>
  <PresentationFormat>Panorámica</PresentationFormat>
  <Paragraphs>415</Paragraphs>
  <Slides>33</Slides>
  <Notes>33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 Math</vt:lpstr>
      <vt:lpstr>Times New Roman</vt:lpstr>
      <vt:lpstr>Diseño predeterminado</vt:lpstr>
      <vt:lpstr>Presentación de PowerPoint</vt:lpstr>
      <vt:lpstr>Agenda</vt:lpstr>
      <vt:lpstr>Introducción</vt:lpstr>
      <vt:lpstr>Introducción</vt:lpstr>
      <vt:lpstr>Objetivos</vt:lpstr>
      <vt:lpstr>Objetivo general</vt:lpstr>
      <vt:lpstr>Objetivos específicos</vt:lpstr>
      <vt:lpstr>Objetivos específicos</vt:lpstr>
      <vt:lpstr>Metodología</vt:lpstr>
      <vt:lpstr>Metodología</vt:lpstr>
      <vt:lpstr>Desarrollo</vt:lpstr>
      <vt:lpstr>Casos de Uso</vt:lpstr>
      <vt:lpstr>Arquitectura del Artefacto</vt:lpstr>
      <vt:lpstr>Mockups</vt:lpstr>
      <vt:lpstr>Mockups</vt:lpstr>
      <vt:lpstr>Pruebas</vt:lpstr>
      <vt:lpstr>Pruebas de Control de Calidad</vt:lpstr>
      <vt:lpstr>Pruebas Unitarias</vt:lpstr>
      <vt:lpstr>Demostración y Evaluación</vt:lpstr>
      <vt:lpstr>Configuración del Entorno</vt:lpstr>
      <vt:lpstr>Presentación de PowerPoint</vt:lpstr>
      <vt:lpstr>Demostración y Evaluación</vt:lpstr>
      <vt:lpstr>Instrumentos de Recolección de Datos</vt:lpstr>
      <vt:lpstr>Resultados</vt:lpstr>
      <vt:lpstr>Resultados</vt:lpstr>
      <vt:lpstr>Discusión</vt:lpstr>
      <vt:lpstr>Discusión</vt:lpstr>
      <vt:lpstr>Conclusiones y Trabajos Futuros</vt:lpstr>
      <vt:lpstr>Conclusiones</vt:lpstr>
      <vt:lpstr>Limitaciones</vt:lpstr>
      <vt:lpstr>Trabajos Futuros</vt:lpstr>
      <vt:lpstr>Gracias por su atención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Michelle Paredes</dc:creator>
  <cp:lastModifiedBy>Josué Merino Calderón</cp:lastModifiedBy>
  <cp:revision>91</cp:revision>
  <dcterms:modified xsi:type="dcterms:W3CDTF">2026-09-22T20:43:17Z</dcterms:modified>
</cp:coreProperties>
</file>